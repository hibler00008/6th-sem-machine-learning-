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8" autoAdjust="0"/>
    <p:restoredTop sz="94660"/>
  </p:normalViewPr>
  <p:slideViewPr>
    <p:cSldViewPr snapToGrid="0">
      <p:cViewPr varScale="1">
        <p:scale>
          <a:sx n="88" d="100"/>
          <a:sy n="88" d="100"/>
        </p:scale>
        <p:origin x="86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17813-5A21-C2A3-DF4B-97CAA2CCB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8FC507-8E00-D25B-CE37-88BFD5B0C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5FA60-00C1-6128-4C81-CF878852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4317-7C6E-4CFC-BFB6-A83DFB5054DE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0A3E9-FAF6-CFDD-8BC9-88ED58195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1FA0C-7E4C-706D-3EFF-CC8A7ABF2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A027-3688-42B5-85AC-C9DD9A6CD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881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3C320-6113-CD04-60BA-F1CB3B12D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9EBE4-2783-C526-260D-326AA8F14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38538-6667-E697-9681-9597F00BF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4317-7C6E-4CFC-BFB6-A83DFB5054DE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70AA3-755E-D2CE-6357-D1B450636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01DC7-DF15-6450-2EFA-DC8720C89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A027-3688-42B5-85AC-C9DD9A6CD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688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D8717-6149-B6F5-914E-C15AE66BC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00179-6F4F-2598-2A96-71C226CDD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94063-2CB4-DA39-4768-3E02B8B81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4317-7C6E-4CFC-BFB6-A83DFB5054DE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0D7EE-55A2-B4DC-8E4C-FB5E75878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27C5F-4EFB-4AA0-1A0C-F5E6DEF4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A027-3688-42B5-85AC-C9DD9A6CD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977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82BB-6815-F42F-26E1-B5A3F5066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82361-F468-2C2A-8761-0268B1C38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D4992-3D97-FAD2-82D1-C22A821A5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2FB07-1673-EE24-D594-ED1C9BF03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4317-7C6E-4CFC-BFB6-A83DFB5054DE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51215-A83C-F761-A683-BFC90B192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B6BE1-4119-35B2-2F01-F9389A76C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A027-3688-42B5-85AC-C9DD9A6CD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582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18232-F7C0-8A68-7E59-EA3EC2914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91A4F-F8AA-6D5B-ED1D-081C66C0D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53C9C-DBAC-616A-A6C4-05C21DF2B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B50062-A35A-3C0A-6076-EDE342D9B0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D7B2E5-B3EE-E561-6236-65B9ED7A5E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B7DAF8-CB73-97A2-C0F5-9BBEA9177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4317-7C6E-4CFC-BFB6-A83DFB5054DE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596426-590C-CF61-0156-F8E318ED6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B0CF90-5B70-CEC3-D6D1-5068C2BB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A027-3688-42B5-85AC-C9DD9A6CD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54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D5B4-361E-FD1B-E1C8-4104B53ED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20D429-7D29-9977-6594-5D9350FF7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4317-7C6E-4CFC-BFB6-A83DFB5054DE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FB5645-86D6-CA42-5D79-A6E6A3AF6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3C5AC-619D-01BF-4794-9304C5E79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A027-3688-42B5-85AC-C9DD9A6CD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888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1FEF97-B79E-1F40-4C32-FEAB00ADE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4317-7C6E-4CFC-BFB6-A83DFB5054DE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73D352-098A-5A1E-3965-CC8312ED5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FA0FB-591E-258A-3BC3-80E98D47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A027-3688-42B5-85AC-C9DD9A6CD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848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B85FE-FDB2-BB15-6EF8-B5974F85A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F1459-F38F-FFD9-3700-8B09EEE63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2AA94D-AB31-CFC9-92F1-642E26371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EE0CA-DB22-E6DD-6848-63D3F2D50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4317-7C6E-4CFC-BFB6-A83DFB5054DE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918DD-4981-E59F-892F-94836B894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C431A-59F0-0B19-2424-17259E30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A027-3688-42B5-85AC-C9DD9A6CD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806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23DCE-1A23-4B07-C474-9899711BD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23EE9-D46E-40D0-AECB-8DCBF4F324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35682F-543F-2B16-0677-6C110BE6C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334CC-91E7-D0BB-63DA-290290478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4317-7C6E-4CFC-BFB6-A83DFB5054DE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D80E3-A717-363B-8E0D-B293E16A4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32BED-32AD-01B7-5905-4E720FF6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A027-3688-42B5-85AC-C9DD9A6CD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90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6BD6E-FF82-1ABE-4C4C-7D84C001B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9A0FCB-D011-EA75-5307-5F49A8881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BC681-83C2-441A-A9B0-AD95C78F8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4317-7C6E-4CFC-BFB6-A83DFB5054DE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7DECD-B03D-76A5-9437-078D358C2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48B79-A001-7A86-56FB-11A755ABF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A027-3688-42B5-85AC-C9DD9A6CD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356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4712C-EFF7-4EB5-EF1A-771AD1A82F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C5B635-2FF9-1FEA-1D4F-1EAE5C996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D2165-BC36-4293-6601-44AB7EA9D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4317-7C6E-4CFC-BFB6-A83DFB5054DE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21321-FB61-7C92-27F7-491D26914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552ED-BEF5-241C-17D8-EFF852EDD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3A027-3688-42B5-85AC-C9DD9A6CD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079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6AFA97-1B69-A38A-98BD-ACEBB6E95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A9E08-24C3-C906-2E07-0F930E2D7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13432-2124-8474-CD1D-700C310B77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C4317-7C6E-4CFC-BFB6-A83DFB5054DE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D2F95-F90C-9C0F-C1FC-87D3BA36D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854CB-224B-1959-E669-97574D108B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3A027-3688-42B5-85AC-C9DD9A6CD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635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9092C-7A1E-DE70-6701-069CAF1D94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Decision Tree and Random Forest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8E78E-4E4C-D83B-9DFB-9149D0E4B1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218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B019C-8E4F-9D7E-CC45-B3C11525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D37FE-7C98-F76A-2E61-60D045A16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Non parametric  </a:t>
            </a:r>
          </a:p>
          <a:p>
            <a:r>
              <a:rPr lang="en-IN" dirty="0"/>
              <a:t>Nonlinear</a:t>
            </a:r>
          </a:p>
          <a:p>
            <a:r>
              <a:rPr lang="en-IN" dirty="0"/>
              <a:t>Hierarchical space partitioning   - top down Approach </a:t>
            </a:r>
          </a:p>
          <a:p>
            <a:r>
              <a:rPr lang="en-IN" dirty="0"/>
              <a:t>Recursively partitions the space  by attribute selection</a:t>
            </a:r>
          </a:p>
          <a:p>
            <a:r>
              <a:rPr lang="en-IN" dirty="0"/>
              <a:t>At the final partitions  assigns labels as</a:t>
            </a:r>
          </a:p>
          <a:p>
            <a:pPr lvl="1"/>
            <a:r>
              <a:rPr lang="en-IN" dirty="0"/>
              <a:t>For Classification – Majority class</a:t>
            </a:r>
          </a:p>
          <a:p>
            <a:pPr lvl="1"/>
            <a:r>
              <a:rPr lang="en-IN" dirty="0"/>
              <a:t>For Regression</a:t>
            </a:r>
          </a:p>
          <a:p>
            <a:pPr lvl="2"/>
            <a:r>
              <a:rPr lang="en-IN" dirty="0"/>
              <a:t>Either </a:t>
            </a:r>
            <a:r>
              <a:rPr lang="en-IN" dirty="0" err="1"/>
              <a:t>Avg</a:t>
            </a:r>
            <a:r>
              <a:rPr lang="en-IN" dirty="0"/>
              <a:t> of the target values in the leaf</a:t>
            </a:r>
          </a:p>
          <a:p>
            <a:pPr lvl="2"/>
            <a:r>
              <a:rPr lang="en-IN" dirty="0"/>
              <a:t>Or Fits a linear regression in the leaf</a:t>
            </a:r>
          </a:p>
          <a:p>
            <a:pPr lvl="2"/>
            <a:r>
              <a:rPr lang="en-IN" dirty="0"/>
              <a:t>Creates piece wise constant or linear approximation with discontinuity at leaf boundaries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6558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6135F-87AF-1EFE-5CE6-5AFCF37B4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Decision tree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6929E-9222-24BA-D384-6EE1DDC76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Impurity measures for classification </a:t>
            </a:r>
          </a:p>
          <a:p>
            <a:pPr lvl="1"/>
            <a:r>
              <a:rPr lang="en-IN" dirty="0"/>
              <a:t>Entropy =  -</a:t>
            </a:r>
            <a:r>
              <a:rPr lang="en-IN" dirty="0" err="1"/>
              <a:t>plogp</a:t>
            </a:r>
            <a:r>
              <a:rPr lang="en-IN" dirty="0"/>
              <a:t> – (1-p) log(1-p) </a:t>
            </a:r>
          </a:p>
          <a:p>
            <a:pPr lvl="1"/>
            <a:r>
              <a:rPr lang="en-IN" dirty="0"/>
              <a:t>Gini index = 2p(1-p)</a:t>
            </a:r>
          </a:p>
          <a:p>
            <a:pPr lvl="1"/>
            <a:r>
              <a:rPr lang="en-IN" dirty="0"/>
              <a:t>Misclassification error = 1 – max(p,1-p)</a:t>
            </a:r>
          </a:p>
          <a:p>
            <a:r>
              <a:rPr lang="en-IN" dirty="0"/>
              <a:t>Impurity measure for regression </a:t>
            </a:r>
          </a:p>
          <a:p>
            <a:pPr lvl="1"/>
            <a:r>
              <a:rPr lang="en-IN" dirty="0"/>
              <a:t>variance</a:t>
            </a:r>
          </a:p>
          <a:p>
            <a:r>
              <a:rPr lang="en-IN" dirty="0"/>
              <a:t>Node Split on a Attribute</a:t>
            </a:r>
          </a:p>
          <a:p>
            <a:pPr lvl="1"/>
            <a:r>
              <a:rPr lang="en-IN" dirty="0"/>
              <a:t>K way split  for categorical feature with k values</a:t>
            </a:r>
          </a:p>
          <a:p>
            <a:pPr lvl="1"/>
            <a:r>
              <a:rPr lang="en-IN" dirty="0"/>
              <a:t>2 way split for numerical feature-</a:t>
            </a:r>
          </a:p>
          <a:p>
            <a:pPr lvl="2"/>
            <a:r>
              <a:rPr lang="en-IN" dirty="0"/>
              <a:t>Find the best threshold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9870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3BAE2-E4B1-810A-0DE4-E070F973A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Node split strategy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D7BF3-79E3-182E-BC1E-57A72D42D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At each  internal node</a:t>
            </a:r>
          </a:p>
          <a:p>
            <a:pPr lvl="1"/>
            <a:r>
              <a:rPr lang="en-IN" dirty="0"/>
              <a:t>Consider  either all the attributes or a random subset</a:t>
            </a:r>
          </a:p>
          <a:p>
            <a:pPr lvl="1"/>
            <a:r>
              <a:rPr lang="en-IN" dirty="0"/>
              <a:t>Iterate through chosen set of attributes</a:t>
            </a:r>
          </a:p>
          <a:p>
            <a:pPr lvl="1"/>
            <a:r>
              <a:rPr lang="en-IN" dirty="0"/>
              <a:t>For each chosen attribute </a:t>
            </a:r>
          </a:p>
          <a:p>
            <a:pPr lvl="2"/>
            <a:r>
              <a:rPr lang="en-IN" dirty="0"/>
              <a:t>Compute impurity of each children after branching </a:t>
            </a:r>
          </a:p>
          <a:p>
            <a:pPr lvl="2"/>
            <a:r>
              <a:rPr lang="en-IN" dirty="0"/>
              <a:t>Aggregate impurity of children as  weighted average of their impurities</a:t>
            </a:r>
          </a:p>
          <a:p>
            <a:pPr lvl="3"/>
            <a:r>
              <a:rPr lang="en-IN" dirty="0"/>
              <a:t>Child Node weight =  number of data points in the child/number of data points in parent</a:t>
            </a:r>
          </a:p>
          <a:p>
            <a:pPr lvl="2"/>
            <a:r>
              <a:rPr lang="en-IN" dirty="0"/>
              <a:t>Reduction in impurity =  impurity of node – aggregate impurity of children</a:t>
            </a:r>
          </a:p>
          <a:p>
            <a:pPr lvl="1"/>
            <a:r>
              <a:rPr lang="en-IN" dirty="0"/>
              <a:t>Split the node on attribute with maximum reduction in impurity</a:t>
            </a:r>
          </a:p>
          <a:p>
            <a:r>
              <a:rPr lang="en-IN" dirty="0"/>
              <a:t>Grow the tree until the all the leaf nodes have impurity below threshold</a:t>
            </a:r>
          </a:p>
          <a:p>
            <a:pPr marL="914400" lvl="2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0958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BCF04-A78B-70E9-09E8-9EE091836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Pros and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D769C-7B24-F708-12DB-95EAB1519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Pros</a:t>
            </a:r>
          </a:p>
          <a:p>
            <a:pPr lvl="1"/>
            <a:r>
              <a:rPr lang="en-IN" dirty="0"/>
              <a:t>Highly interpretable and explainable</a:t>
            </a:r>
          </a:p>
          <a:p>
            <a:pPr lvl="1"/>
            <a:r>
              <a:rPr lang="en-IN" dirty="0"/>
              <a:t>Path from root to leaf can be mapped to if-else rules</a:t>
            </a:r>
          </a:p>
          <a:p>
            <a:pPr lvl="2"/>
            <a:r>
              <a:rPr lang="en-IN" dirty="0"/>
              <a:t>Rule extraction</a:t>
            </a:r>
          </a:p>
          <a:p>
            <a:pPr lvl="1"/>
            <a:r>
              <a:rPr lang="en-IN" dirty="0"/>
              <a:t>Can model highly nonlinear  problems</a:t>
            </a:r>
          </a:p>
          <a:p>
            <a:pPr lvl="1"/>
            <a:r>
              <a:rPr lang="en-IN" dirty="0"/>
              <a:t>Provides reliable estimate of feature importance</a:t>
            </a:r>
          </a:p>
          <a:p>
            <a:r>
              <a:rPr lang="en-IN" dirty="0"/>
              <a:t>Cons</a:t>
            </a:r>
          </a:p>
          <a:p>
            <a:pPr lvl="1"/>
            <a:r>
              <a:rPr lang="en-IN" dirty="0"/>
              <a:t>If trees grows too high – predictions are computationally expensive</a:t>
            </a:r>
          </a:p>
          <a:p>
            <a:pPr lvl="1"/>
            <a:r>
              <a:rPr lang="en-IN" dirty="0"/>
              <a:t>Prone to overfitting if trees are allowed to grow uncontrollably </a:t>
            </a:r>
          </a:p>
          <a:p>
            <a:pPr lvl="2"/>
            <a:r>
              <a:rPr lang="en-IN" dirty="0"/>
              <a:t>Requires pruning</a:t>
            </a:r>
          </a:p>
          <a:p>
            <a:pPr marL="914400" lvl="2" indent="0">
              <a:buNone/>
            </a:pPr>
            <a:endParaRPr lang="en-IN" dirty="0"/>
          </a:p>
          <a:p>
            <a:pPr lvl="1"/>
            <a:endParaRPr lang="en-IN" dirty="0"/>
          </a:p>
          <a:p>
            <a:endParaRPr lang="en-IN" dirty="0"/>
          </a:p>
          <a:p>
            <a:pPr lvl="1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820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80FE-169E-289B-DF3E-54EEF340E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230D2-F1AF-AE64-4987-E372519AB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Pre-pruning</a:t>
            </a:r>
          </a:p>
          <a:p>
            <a:pPr lvl="1"/>
            <a:r>
              <a:rPr lang="en-IN" dirty="0"/>
              <a:t>Regularization</a:t>
            </a:r>
          </a:p>
          <a:p>
            <a:pPr lvl="2"/>
            <a:r>
              <a:rPr lang="en-IN" dirty="0"/>
              <a:t>Controls tree growth  through hyper-parameters</a:t>
            </a:r>
          </a:p>
          <a:p>
            <a:pPr lvl="2"/>
            <a:r>
              <a:rPr lang="en-IN" dirty="0"/>
              <a:t>Hyper-parameters</a:t>
            </a:r>
          </a:p>
          <a:p>
            <a:pPr lvl="3"/>
            <a:r>
              <a:rPr lang="en-IN" b="1" i="1" dirty="0" err="1">
                <a:solidFill>
                  <a:srgbClr val="222832"/>
                </a:solidFill>
                <a:effectLst/>
                <a:latin typeface="SFMono-Regular"/>
              </a:rPr>
              <a:t>max_depth</a:t>
            </a:r>
            <a:endParaRPr lang="en-IN" b="1" i="0" dirty="0">
              <a:solidFill>
                <a:srgbClr val="222832"/>
              </a:solidFill>
              <a:effectLst/>
              <a:latin typeface="SFMono-Regular"/>
            </a:endParaRPr>
          </a:p>
          <a:p>
            <a:pPr lvl="3"/>
            <a:r>
              <a:rPr lang="en-IN" b="1" i="0" dirty="0">
                <a:solidFill>
                  <a:srgbClr val="222832"/>
                </a:solidFill>
                <a:effectLst/>
                <a:latin typeface="SFMono-Regular"/>
              </a:rPr>
              <a:t> </a:t>
            </a:r>
            <a:r>
              <a:rPr lang="en-IN" b="1" i="1" dirty="0" err="1">
                <a:solidFill>
                  <a:srgbClr val="222832"/>
                </a:solidFill>
                <a:effectLst/>
                <a:latin typeface="SFMono-Regular"/>
              </a:rPr>
              <a:t>min_samples_split</a:t>
            </a:r>
            <a:endParaRPr lang="en-IN" b="1" i="1" dirty="0">
              <a:solidFill>
                <a:srgbClr val="222832"/>
              </a:solidFill>
              <a:effectLst/>
              <a:latin typeface="SFMono-Regular"/>
            </a:endParaRPr>
          </a:p>
          <a:p>
            <a:pPr lvl="3"/>
            <a:r>
              <a:rPr lang="en-IN" b="1" i="0" dirty="0">
                <a:solidFill>
                  <a:srgbClr val="222832"/>
                </a:solidFill>
                <a:effectLst/>
                <a:latin typeface="SFMono-Regular"/>
              </a:rPr>
              <a:t> </a:t>
            </a:r>
            <a:r>
              <a:rPr lang="en-IN" b="1" i="1" dirty="0" err="1">
                <a:solidFill>
                  <a:srgbClr val="222832"/>
                </a:solidFill>
                <a:effectLst/>
                <a:latin typeface="SFMono-Regular"/>
              </a:rPr>
              <a:t>min_samples_leaf</a:t>
            </a:r>
            <a:endParaRPr lang="en-IN" b="1" i="1" dirty="0">
              <a:solidFill>
                <a:srgbClr val="222832"/>
              </a:solidFill>
              <a:effectLst/>
              <a:latin typeface="SFMono-Regular"/>
            </a:endParaRPr>
          </a:p>
          <a:p>
            <a:pPr lvl="3"/>
            <a:r>
              <a:rPr lang="en-IN" b="1" i="0" dirty="0">
                <a:solidFill>
                  <a:srgbClr val="222832"/>
                </a:solidFill>
                <a:effectLst/>
                <a:latin typeface="SFMono-Regular"/>
              </a:rPr>
              <a:t> </a:t>
            </a:r>
            <a:r>
              <a:rPr lang="en-IN" b="1" i="1" dirty="0" err="1">
                <a:solidFill>
                  <a:srgbClr val="222832"/>
                </a:solidFill>
                <a:effectLst/>
                <a:latin typeface="SFMono-Regular"/>
              </a:rPr>
              <a:t>min_weight_fraction_leaf</a:t>
            </a:r>
            <a:endParaRPr lang="en-IN" b="1" i="1" dirty="0">
              <a:solidFill>
                <a:srgbClr val="222832"/>
              </a:solidFill>
              <a:effectLst/>
              <a:latin typeface="SFMono-Regular"/>
            </a:endParaRPr>
          </a:p>
          <a:p>
            <a:pPr lvl="3"/>
            <a:r>
              <a:rPr lang="en-IN" b="1" i="0" dirty="0">
                <a:solidFill>
                  <a:srgbClr val="222832"/>
                </a:solidFill>
                <a:effectLst/>
                <a:latin typeface="SFMono-Regular"/>
              </a:rPr>
              <a:t> </a:t>
            </a:r>
            <a:r>
              <a:rPr lang="en-IN" b="1" i="1" dirty="0" err="1">
                <a:solidFill>
                  <a:srgbClr val="222832"/>
                </a:solidFill>
                <a:effectLst/>
                <a:latin typeface="SFMono-Regular"/>
              </a:rPr>
              <a:t>max_leaf_nodes</a:t>
            </a:r>
            <a:endParaRPr lang="en-IN" b="1" i="1" dirty="0">
              <a:solidFill>
                <a:srgbClr val="222832"/>
              </a:solidFill>
              <a:effectLst/>
              <a:latin typeface="SFMono-Regular"/>
            </a:endParaRPr>
          </a:p>
          <a:p>
            <a:pPr lvl="3"/>
            <a:r>
              <a:rPr lang="en-IN" b="1" i="1" dirty="0" err="1">
                <a:solidFill>
                  <a:srgbClr val="222832"/>
                </a:solidFill>
                <a:effectLst/>
                <a:latin typeface="SFMono-Regular"/>
              </a:rPr>
              <a:t>min_impurity_decrease</a:t>
            </a:r>
            <a:endParaRPr lang="en-IN" b="1" i="1" dirty="0">
              <a:solidFill>
                <a:srgbClr val="222832"/>
              </a:solidFill>
              <a:effectLst/>
              <a:latin typeface="SFMono-Regular"/>
            </a:endParaRPr>
          </a:p>
          <a:p>
            <a:pPr lvl="2"/>
            <a:endParaRPr lang="en-IN" dirty="0"/>
          </a:p>
          <a:p>
            <a:r>
              <a:rPr lang="en-IN" dirty="0"/>
              <a:t>Post pruning</a:t>
            </a:r>
          </a:p>
          <a:p>
            <a:pPr lvl="1"/>
            <a:r>
              <a:rPr lang="en-IN" dirty="0"/>
              <a:t>Sets aside a pruning set</a:t>
            </a:r>
          </a:p>
          <a:p>
            <a:pPr lvl="1"/>
            <a:r>
              <a:rPr lang="en-IN" dirty="0"/>
              <a:t>At each internal node use the pruning set to  , </a:t>
            </a:r>
          </a:p>
          <a:p>
            <a:pPr lvl="2"/>
            <a:r>
              <a:rPr lang="en-IN" dirty="0"/>
              <a:t>Measure the accuracy assuming that node to be leaf node</a:t>
            </a:r>
          </a:p>
          <a:p>
            <a:pPr lvl="2"/>
            <a:r>
              <a:rPr lang="en-IN" dirty="0"/>
              <a:t>Measure the accuracy on the subtree under the node</a:t>
            </a:r>
          </a:p>
          <a:p>
            <a:pPr lvl="2"/>
            <a:r>
              <a:rPr lang="en-IN" dirty="0"/>
              <a:t>If above two accuracies are not significantly different, deletes the subtree under the node</a:t>
            </a:r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2884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27A8-30E0-F185-5C64-69DF13FB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B9074-70C0-992E-88FB-DB43BCEEE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An Ensemble Approach</a:t>
            </a:r>
          </a:p>
          <a:p>
            <a:r>
              <a:rPr lang="en-IN" dirty="0"/>
              <a:t>Creates multiple decisions trees using </a:t>
            </a:r>
          </a:p>
          <a:p>
            <a:pPr lvl="1"/>
            <a:r>
              <a:rPr lang="en-IN" dirty="0"/>
              <a:t>Bagging on data – create multiple subsample using replacement</a:t>
            </a:r>
          </a:p>
          <a:p>
            <a:pPr lvl="1"/>
            <a:r>
              <a:rPr lang="en-IN" dirty="0"/>
              <a:t>Feature bagging- </a:t>
            </a:r>
          </a:p>
          <a:p>
            <a:pPr lvl="2"/>
            <a:r>
              <a:rPr lang="en-IN" dirty="0"/>
              <a:t>At each node split instead of checking all the features, checks a random subset  </a:t>
            </a:r>
          </a:p>
          <a:p>
            <a:pPr lvl="2"/>
            <a:r>
              <a:rPr lang="en-IN" dirty="0"/>
              <a:t>Choses the best feature in the subset</a:t>
            </a:r>
          </a:p>
          <a:p>
            <a:pPr lvl="2"/>
            <a:r>
              <a:rPr lang="en-IN" dirty="0"/>
              <a:t>Ensure that the decision trees are non-similar </a:t>
            </a:r>
          </a:p>
          <a:p>
            <a:pPr lvl="3"/>
            <a:r>
              <a:rPr lang="en-IN" dirty="0"/>
              <a:t>Feature bagging ensures different  sequence of splits across trees</a:t>
            </a:r>
          </a:p>
          <a:p>
            <a:pPr lvl="2"/>
            <a:r>
              <a:rPr lang="en-IN" dirty="0"/>
              <a:t>Note: all features are used in every tree. The sub-setting is only for node split.</a:t>
            </a:r>
          </a:p>
          <a:p>
            <a:pPr lvl="1"/>
            <a:r>
              <a:rPr lang="en-IN" dirty="0"/>
              <a:t>For each tree , out of bag error is measured</a:t>
            </a:r>
          </a:p>
          <a:p>
            <a:pPr lvl="1"/>
            <a:r>
              <a:rPr lang="en-IN" dirty="0"/>
              <a:t>Final error is </a:t>
            </a:r>
            <a:r>
              <a:rPr lang="en-IN" dirty="0" err="1"/>
              <a:t>avg</a:t>
            </a:r>
            <a:r>
              <a:rPr lang="en-IN" dirty="0"/>
              <a:t> of all tree errors</a:t>
            </a:r>
          </a:p>
          <a:p>
            <a:r>
              <a:rPr lang="en-IN" dirty="0"/>
              <a:t>Final prediction is aggregate of prediction over all the trees</a:t>
            </a:r>
          </a:p>
          <a:p>
            <a:pPr lvl="1"/>
            <a:r>
              <a:rPr lang="en-IN" dirty="0"/>
              <a:t>Majority in case of classification </a:t>
            </a:r>
          </a:p>
          <a:p>
            <a:pPr lvl="1"/>
            <a:r>
              <a:rPr lang="en-IN" dirty="0" err="1"/>
              <a:t>Avg</a:t>
            </a:r>
            <a:r>
              <a:rPr lang="en-IN" dirty="0"/>
              <a:t> in case of regression </a:t>
            </a:r>
          </a:p>
          <a:p>
            <a:r>
              <a:rPr lang="en-IN" dirty="0"/>
              <a:t>Advantages over Decision Trees</a:t>
            </a:r>
          </a:p>
          <a:p>
            <a:pPr lvl="1"/>
            <a:r>
              <a:rPr lang="en-IN" dirty="0"/>
              <a:t>More robust and accurate due to ensemble</a:t>
            </a:r>
          </a:p>
          <a:p>
            <a:pPr lvl="1"/>
            <a:r>
              <a:rPr lang="en-IN" dirty="0"/>
              <a:t>Relatively less likely to  overfit</a:t>
            </a:r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0808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D3264-13BA-C262-A6D0-3C59491C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Hyper-parameters for 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613BE-55FD-49C0-61A8-A16C32CA3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dirty="0" err="1">
                <a:solidFill>
                  <a:srgbClr val="222832"/>
                </a:solidFill>
                <a:effectLst/>
                <a:latin typeface="-apple-system"/>
              </a:rPr>
              <a:t>n_estimators</a:t>
            </a:r>
            <a:r>
              <a:rPr lang="en-IN" b="1" i="0" dirty="0">
                <a:solidFill>
                  <a:srgbClr val="222832"/>
                </a:solidFill>
                <a:effectLst/>
                <a:latin typeface="-apple-system"/>
              </a:rPr>
              <a:t> - #trees</a:t>
            </a:r>
          </a:p>
          <a:p>
            <a:r>
              <a:rPr lang="en-IN" b="1" i="0" dirty="0" err="1">
                <a:solidFill>
                  <a:srgbClr val="222832"/>
                </a:solidFill>
                <a:effectLst/>
                <a:latin typeface="-apple-system"/>
              </a:rPr>
              <a:t>max_features</a:t>
            </a:r>
            <a:endParaRPr lang="en-IN" b="1" i="0" dirty="0">
              <a:solidFill>
                <a:srgbClr val="222832"/>
              </a:solidFill>
              <a:effectLst/>
              <a:latin typeface="-apple-system"/>
            </a:endParaRPr>
          </a:p>
          <a:p>
            <a:r>
              <a:rPr lang="en-IN" b="1" dirty="0">
                <a:solidFill>
                  <a:srgbClr val="222832"/>
                </a:solidFill>
                <a:latin typeface="-apple-system"/>
              </a:rPr>
              <a:t>Other hyper-parameters of decision tree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0872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F5708-1D0E-2745-47BC-401A6A576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many trees?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E8D7C-58BF-F4C8-231F-7E70E4954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Number of trees in a forest</a:t>
            </a:r>
          </a:p>
          <a:p>
            <a:pPr lvl="1"/>
            <a:r>
              <a:rPr lang="en-IN" dirty="0"/>
              <a:t>Inversely  proportion to depth of individual trees</a:t>
            </a:r>
          </a:p>
          <a:p>
            <a:pPr lvl="1"/>
            <a:r>
              <a:rPr lang="en-IN" dirty="0"/>
              <a:t>Increases as number of features increase </a:t>
            </a:r>
          </a:p>
          <a:p>
            <a:r>
              <a:rPr lang="en-IN" dirty="0"/>
              <a:t>Accuracy improves initially as number of trees increases</a:t>
            </a:r>
          </a:p>
          <a:p>
            <a:r>
              <a:rPr lang="en-IN" dirty="0"/>
              <a:t>But after a point – diminishing returns</a:t>
            </a:r>
          </a:p>
          <a:p>
            <a:r>
              <a:rPr lang="en-IN" dirty="0"/>
              <a:t>As number of trees grows</a:t>
            </a:r>
          </a:p>
          <a:p>
            <a:pPr lvl="1"/>
            <a:r>
              <a:rPr lang="en-IN" dirty="0"/>
              <a:t>Probability of overfitting increases</a:t>
            </a:r>
          </a:p>
          <a:p>
            <a:pPr lvl="1"/>
            <a:r>
              <a:rPr lang="en-IN" dirty="0"/>
              <a:t>The model consumes more memory </a:t>
            </a:r>
          </a:p>
          <a:p>
            <a:pPr lvl="1"/>
            <a:r>
              <a:rPr lang="en-IN" dirty="0"/>
              <a:t>Predictions are resource intensive and slow</a:t>
            </a:r>
          </a:p>
        </p:txBody>
      </p:sp>
    </p:spTree>
    <p:extLst>
      <p:ext uri="{BB962C8B-B14F-4D97-AF65-F5344CB8AC3E}">
        <p14:creationId xmlns:p14="http://schemas.microsoft.com/office/powerpoint/2010/main" val="4027105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E63DC-C42E-7FAA-D140-34BF9080A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532B3-25FD-D540-029F-C8E8F8285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Explain steps in decision tree algorithm </a:t>
            </a:r>
          </a:p>
          <a:p>
            <a:r>
              <a:rPr lang="en-IN" dirty="0"/>
              <a:t>Explain how an internal node is split in decision tree?</a:t>
            </a:r>
          </a:p>
          <a:p>
            <a:r>
              <a:rPr lang="en-IN" dirty="0"/>
              <a:t>Explain various impurity measures in decision tree classification and regression </a:t>
            </a:r>
          </a:p>
          <a:p>
            <a:r>
              <a:rPr lang="en-IN" dirty="0"/>
              <a:t>Analyse key hyper-parameters of decision trees to avoid overfitting</a:t>
            </a:r>
          </a:p>
          <a:p>
            <a:r>
              <a:rPr lang="en-IN" dirty="0"/>
              <a:t>Compare pre-pruning and post pruning in decision tree?</a:t>
            </a:r>
          </a:p>
          <a:p>
            <a:r>
              <a:rPr lang="en-IN" dirty="0"/>
              <a:t>Explain  Random forest algorithm and state its advantages over decision trees</a:t>
            </a:r>
          </a:p>
          <a:p>
            <a:r>
              <a:rPr lang="en-IN" dirty="0"/>
              <a:t>Analyse key hyper-parameters in random-forest</a:t>
            </a:r>
          </a:p>
          <a:p>
            <a:r>
              <a:rPr lang="en-IN" dirty="0"/>
              <a:t>Analyse how diversity of trees is ensured in random forest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4809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659</Words>
  <Application>Microsoft Office PowerPoint</Application>
  <PresentationFormat>Widescreen</PresentationFormat>
  <Paragraphs>108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-apple-system</vt:lpstr>
      <vt:lpstr>Arial</vt:lpstr>
      <vt:lpstr>Calibri</vt:lpstr>
      <vt:lpstr>Calibri Light</vt:lpstr>
      <vt:lpstr>SFMono-Regular</vt:lpstr>
      <vt:lpstr>Office Theme</vt:lpstr>
      <vt:lpstr>Decision Tree and Random Forest</vt:lpstr>
      <vt:lpstr>Decision Tree</vt:lpstr>
      <vt:lpstr>Decision tree Topics</vt:lpstr>
      <vt:lpstr>Node split strategy </vt:lpstr>
      <vt:lpstr>Pros and Cons</vt:lpstr>
      <vt:lpstr>Pruning</vt:lpstr>
      <vt:lpstr>Random Forest</vt:lpstr>
      <vt:lpstr>Key Hyper-parameters for Random Forest</vt:lpstr>
      <vt:lpstr>How many trees?</vt:lpstr>
      <vt:lpstr>Practice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Shailesh Patil</dc:creator>
  <cp:lastModifiedBy>Shailesh Patil</cp:lastModifiedBy>
  <cp:revision>2</cp:revision>
  <dcterms:created xsi:type="dcterms:W3CDTF">2025-04-15T06:10:44Z</dcterms:created>
  <dcterms:modified xsi:type="dcterms:W3CDTF">2025-04-15T10:36:13Z</dcterms:modified>
</cp:coreProperties>
</file>