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8" r:id="rId4"/>
    <p:sldId id="257" r:id="rId5"/>
    <p:sldId id="259" r:id="rId6"/>
    <p:sldId id="263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86291-4623-93FF-5451-48D44286C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F8A5E5-9792-AD43-F26E-11E587108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01A5E-CD2D-D1C0-D601-E3E5A83AD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F367-24EA-1AF5-B1B2-1A4B0ECDA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5494E-52D1-ED44-22E2-48AA3BEC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932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CA9BB-EA98-38FA-1A06-F409A59C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203FB-9447-5ECA-4B7B-7E93130E5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BA825-92C2-7075-2DAC-82F42CD9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50900-BDA2-BF17-9BCC-E981CB3A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9D42C-AECA-1CCE-1F7F-AD1EA585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79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3B53-601C-B341-C42E-FEEE650C1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96DF8-C35D-55A7-9F67-013581830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765E8-52A7-AF19-0E26-9E5130981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2714-3B8C-85E1-CB5D-9833E204E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EF5CA-2A59-FCA8-9113-18E63865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52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2C46C-D199-4A4A-D652-3A391808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00FCC-8916-89D1-1066-060D34B8B6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48492-4609-39FF-818C-68C87BCB8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EDF5A-0AB9-8299-C7D1-A9D74B03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25EB9-93D3-B7EC-1A6F-74585607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2C8D7-4DB7-DCF4-19D0-F879A8F3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94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E14BE-9CDA-9EAA-4692-0D5538B49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F0C85-570B-D24F-762E-AA0736A3D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FC167-EAF4-04DC-BEF8-6F1B6C8C3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52D0C-5F32-3180-A34A-F87D18F52C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2F57E-359A-61C7-9AFC-E7EF4723B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93031C-C854-E68C-CF5C-A852173D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F77931-1B9C-1E76-D1CA-62BFF53A0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F6EE9E-D3CD-4A65-5441-3BEFC110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8061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BEB5-4775-DA9A-803B-FAE44FFC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281AE-11BF-DC31-E284-1E3490CC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88ED98-95CB-D26A-C267-8C038C94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06CAC0-DC3D-622E-5D05-B4C9AC894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805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7C0C5B-CB2A-B78E-F33C-49645685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B5EB4-C321-16D9-3D3E-986F64220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AD897-29BD-D1FF-64D1-310CF2CA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78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3B24-4F31-A22D-1C3D-0E87084D7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D92AC-97BF-0906-EA36-C8DC7DEE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78971-5E76-BDF1-859C-76D7B9AB5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F9E39-ABA8-FEBE-1BAA-E2950740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47355-B671-B437-D975-76D3DD2C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10D7E-1C9B-D75C-7709-6F594961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557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83AF-069D-A48B-8830-48E3392C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E1B07A-30BD-F917-2FC5-AEDAD2FB1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57B6F-0B4D-E319-A325-4DADE4F7B7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302B4-6741-29F1-084E-7EFFF2DA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C066C-2FE4-150A-3AE5-326E186B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E3EAF-2E08-6594-EFF7-E282D1EE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281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8852-8F98-E17A-81BD-DED68FE5E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F3F619-3075-BFA6-6F04-A3539E368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102C6-9E81-2F36-7E9D-EDD59E4C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900D-F125-B437-FE5C-0467C998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EED92-0A33-2C5D-73FC-D9470E4B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5C744A-AC5D-E7E2-E649-27E0B779FF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52F35-DB59-DB8A-941C-CBF8EEE95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8C59E-D13E-0A1D-D94F-FF3462FD1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8881B-CBF4-35B4-1498-70EBAE8EC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0C21A-1730-8DBF-2EDA-70C3D18B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39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3E833-1396-12C5-316E-DEE00580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581D0-7BB7-6F0F-4EC5-E2EE9CBED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AB05A-B71F-4DB6-9F41-EA999201F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D9997-35E8-483C-959B-1BC93AFD65C0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A3B55-865A-D2F5-76EB-5C19C62B1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CD090-7E35-E335-4E6F-26FEC3DD4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0DCD2-9635-41DF-A7C6-22297ED730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986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3846A-7D65-C310-3979-673FFF309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Linear Regression Topics</a:t>
            </a:r>
          </a:p>
        </p:txBody>
      </p:sp>
    </p:spTree>
    <p:extLst>
      <p:ext uri="{BB962C8B-B14F-4D97-AF65-F5344CB8AC3E}">
        <p14:creationId xmlns:p14="http://schemas.microsoft.com/office/powerpoint/2010/main" val="3803858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1F8F9-C087-9C11-1596-00DD442C8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E9CC-AE26-5DCC-AC7A-6246098BD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Define Simple Linear regression  and examples </a:t>
            </a:r>
          </a:p>
          <a:p>
            <a:r>
              <a:rPr lang="en-IN" dirty="0"/>
              <a:t>Underlying Assumptions – LINE conditions</a:t>
            </a:r>
          </a:p>
          <a:p>
            <a:r>
              <a:rPr lang="en-IN" dirty="0"/>
              <a:t>Deriving the coefficients </a:t>
            </a:r>
          </a:p>
          <a:p>
            <a:r>
              <a:rPr lang="en-IN" dirty="0"/>
              <a:t>Measure of  accuracy / goodness of fit – MSE, R</a:t>
            </a:r>
            <a:r>
              <a:rPr lang="en-IN" baseline="30000" dirty="0"/>
              <a:t>2</a:t>
            </a:r>
          </a:p>
          <a:p>
            <a:r>
              <a:rPr lang="en-IN" dirty="0"/>
              <a:t>Measure of reliability of the fit – </a:t>
            </a:r>
            <a:r>
              <a:rPr lang="en-IN" dirty="0" err="1"/>
              <a:t>pvalues</a:t>
            </a:r>
            <a:r>
              <a:rPr lang="en-IN" dirty="0"/>
              <a:t>  of coefficients and R</a:t>
            </a:r>
            <a:r>
              <a:rPr lang="en-IN" baseline="30000" dirty="0"/>
              <a:t>2</a:t>
            </a:r>
          </a:p>
          <a:p>
            <a:r>
              <a:rPr lang="en-IN" dirty="0"/>
              <a:t>How do we know this is correct and best solution</a:t>
            </a:r>
          </a:p>
          <a:p>
            <a:r>
              <a:rPr lang="en-IN" dirty="0"/>
              <a:t>Rule out need for polynomial/ non-linear fit and time-series analysis </a:t>
            </a:r>
          </a:p>
          <a:p>
            <a:r>
              <a:rPr lang="en-IN" dirty="0"/>
              <a:t>Check if outliers impact the fit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891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C18B-BB51-D310-75E0-CB8A9B6B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E903-A5B7-3F2D-6F3E-756921C40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Algorithms to learn</a:t>
            </a:r>
          </a:p>
          <a:p>
            <a:pPr lvl="1"/>
            <a:r>
              <a:rPr lang="en-IN" dirty="0"/>
              <a:t>Unknown Mapping from set of inputs to output</a:t>
            </a:r>
          </a:p>
          <a:p>
            <a:pPr lvl="2"/>
            <a:r>
              <a:rPr lang="en-IN" dirty="0"/>
              <a:t>Supervised </a:t>
            </a:r>
          </a:p>
          <a:p>
            <a:pPr lvl="3"/>
            <a:r>
              <a:rPr lang="en-IN" dirty="0"/>
              <a:t>Classification </a:t>
            </a:r>
          </a:p>
          <a:p>
            <a:pPr lvl="4"/>
            <a:r>
              <a:rPr lang="en-IN" dirty="0"/>
              <a:t>When the output is categorical </a:t>
            </a:r>
          </a:p>
          <a:p>
            <a:pPr lvl="3"/>
            <a:r>
              <a:rPr lang="en-IN" dirty="0"/>
              <a:t>Regressions</a:t>
            </a:r>
          </a:p>
          <a:p>
            <a:pPr lvl="4"/>
            <a:r>
              <a:rPr lang="en-IN" dirty="0"/>
              <a:t>When the output is numerical</a:t>
            </a:r>
          </a:p>
          <a:p>
            <a:pPr lvl="2"/>
            <a:endParaRPr lang="en-IN" dirty="0"/>
          </a:p>
          <a:p>
            <a:pPr lvl="1"/>
            <a:r>
              <a:rPr lang="en-IN" dirty="0"/>
              <a:t>Patterns in the unlabelled  data </a:t>
            </a:r>
          </a:p>
          <a:p>
            <a:pPr lvl="2"/>
            <a:r>
              <a:rPr lang="en-IN" dirty="0"/>
              <a:t>Unsupervised</a:t>
            </a:r>
          </a:p>
          <a:p>
            <a:pPr lvl="3"/>
            <a:endParaRPr lang="en-IN" dirty="0"/>
          </a:p>
          <a:p>
            <a:pPr lvl="3"/>
            <a:endParaRPr lang="en-IN" dirty="0"/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99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250D6-FD0E-8DC9-7383-19784EFA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28BBB-A3A9-C11B-17A4-F19EF5422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Labelled data</a:t>
            </a:r>
          </a:p>
          <a:p>
            <a:pPr lvl="1"/>
            <a:r>
              <a:rPr lang="en-IN" dirty="0"/>
              <a:t>input/dependant features </a:t>
            </a:r>
            <a:r>
              <a:rPr lang="en-IN" i="1" dirty="0"/>
              <a:t>x</a:t>
            </a:r>
            <a:r>
              <a:rPr lang="en-IN" i="1" baseline="-25000" dirty="0"/>
              <a:t>i</a:t>
            </a:r>
          </a:p>
          <a:p>
            <a:pPr lvl="1"/>
            <a:r>
              <a:rPr lang="en-IN" i="1" dirty="0"/>
              <a:t>Numerical output/target y</a:t>
            </a:r>
          </a:p>
          <a:p>
            <a:r>
              <a:rPr lang="en-IN" i="1" dirty="0"/>
              <a:t>Linear Regression :</a:t>
            </a:r>
          </a:p>
          <a:p>
            <a:pPr lvl="1"/>
            <a:r>
              <a:rPr lang="en-IN" dirty="0"/>
              <a:t>Can y be modelled as  a linear function of x</a:t>
            </a:r>
            <a:r>
              <a:rPr lang="en-IN" baseline="-25000" dirty="0"/>
              <a:t>i</a:t>
            </a:r>
            <a:r>
              <a:rPr lang="en-IN" baseline="30000" dirty="0"/>
              <a:t>’ </a:t>
            </a:r>
            <a:r>
              <a:rPr lang="en-IN" dirty="0"/>
              <a:t>? </a:t>
            </a:r>
          </a:p>
          <a:p>
            <a:pPr lvl="2"/>
            <a:r>
              <a:rPr lang="en-IN" dirty="0"/>
              <a:t>y = b1* x</a:t>
            </a:r>
            <a:r>
              <a:rPr lang="en-IN" baseline="-25000" dirty="0"/>
              <a:t>1</a:t>
            </a:r>
            <a:r>
              <a:rPr lang="en-IN" baseline="30000" dirty="0"/>
              <a:t>’  </a:t>
            </a:r>
            <a:r>
              <a:rPr lang="en-IN" dirty="0"/>
              <a:t>+ b2* x</a:t>
            </a:r>
            <a:r>
              <a:rPr lang="en-IN" baseline="-25000" dirty="0"/>
              <a:t>2</a:t>
            </a:r>
            <a:r>
              <a:rPr lang="en-IN" baseline="30000" dirty="0"/>
              <a:t>’</a:t>
            </a:r>
            <a:r>
              <a:rPr lang="en-IN" dirty="0"/>
              <a:t>+</a:t>
            </a:r>
            <a:r>
              <a:rPr lang="en-IN" baseline="30000" dirty="0"/>
              <a:t>  </a:t>
            </a:r>
            <a:r>
              <a:rPr lang="en-IN" dirty="0"/>
              <a:t>b2* x</a:t>
            </a:r>
            <a:r>
              <a:rPr lang="en-IN" baseline="-25000" dirty="0"/>
              <a:t>2</a:t>
            </a:r>
            <a:r>
              <a:rPr lang="en-IN" baseline="30000" dirty="0"/>
              <a:t>’ </a:t>
            </a:r>
            <a:r>
              <a:rPr lang="en-IN" dirty="0"/>
              <a:t>+ ……. </a:t>
            </a:r>
          </a:p>
          <a:p>
            <a:pPr lvl="1"/>
            <a:r>
              <a:rPr lang="en-IN" dirty="0"/>
              <a:t>x</a:t>
            </a:r>
            <a:r>
              <a:rPr lang="en-IN" baseline="-25000" dirty="0"/>
              <a:t>i</a:t>
            </a:r>
            <a:r>
              <a:rPr lang="en-IN" baseline="30000" dirty="0"/>
              <a:t>’ </a:t>
            </a:r>
            <a:r>
              <a:rPr lang="en-IN" dirty="0"/>
              <a:t>s could be some mathematical transformations of </a:t>
            </a:r>
            <a:r>
              <a:rPr lang="en-IN" i="1" dirty="0"/>
              <a:t>x</a:t>
            </a:r>
            <a:r>
              <a:rPr lang="en-IN" i="1" baseline="-25000" dirty="0"/>
              <a:t>i </a:t>
            </a:r>
          </a:p>
          <a:p>
            <a:pPr lvl="2"/>
            <a:r>
              <a:rPr lang="en-IN" i="1" dirty="0"/>
              <a:t>x</a:t>
            </a:r>
            <a:r>
              <a:rPr lang="en-IN" i="1" baseline="-25000" dirty="0"/>
              <a:t>i</a:t>
            </a:r>
            <a:r>
              <a:rPr lang="en-IN" i="1" dirty="0"/>
              <a:t> </a:t>
            </a:r>
            <a:r>
              <a:rPr lang="en-IN" i="1" baseline="30000" dirty="0"/>
              <a:t>n ,  </a:t>
            </a:r>
            <a:r>
              <a:rPr lang="en-IN" i="1" dirty="0"/>
              <a:t>x</a:t>
            </a:r>
            <a:r>
              <a:rPr lang="en-IN" i="1" baseline="-25000" dirty="0"/>
              <a:t>i</a:t>
            </a:r>
            <a:r>
              <a:rPr lang="en-IN" i="1" dirty="0"/>
              <a:t> * </a:t>
            </a:r>
            <a:r>
              <a:rPr lang="en-IN" i="1" dirty="0" err="1"/>
              <a:t>x</a:t>
            </a:r>
            <a:r>
              <a:rPr lang="en-IN" i="1" baseline="-25000" dirty="0" err="1"/>
              <a:t>j</a:t>
            </a:r>
            <a:r>
              <a:rPr lang="en-IN" i="1" baseline="-25000" dirty="0"/>
              <a:t>, </a:t>
            </a:r>
            <a:r>
              <a:rPr lang="en-IN" i="1" dirty="0"/>
              <a:t> sqrt(x) , log(x), e</a:t>
            </a:r>
            <a:r>
              <a:rPr lang="en-IN" i="1" baseline="30000" dirty="0"/>
              <a:t>x</a:t>
            </a:r>
            <a:r>
              <a:rPr lang="en-IN" i="1" dirty="0"/>
              <a:t> etc</a:t>
            </a:r>
          </a:p>
          <a:p>
            <a:pPr marL="914400" lvl="2" indent="0">
              <a:buNone/>
            </a:pPr>
            <a:endParaRPr lang="en-IN" i="1" dirty="0"/>
          </a:p>
          <a:p>
            <a:pPr lvl="1"/>
            <a:endParaRPr lang="en-IN" dirty="0"/>
          </a:p>
          <a:p>
            <a:pPr lvl="1"/>
            <a:endParaRPr lang="en-IN" baseline="30000" dirty="0"/>
          </a:p>
          <a:p>
            <a:endParaRPr lang="en-IN" baseline="30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105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797B-5E6B-7181-E945-7E82505A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Linear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5F902-D163-6A1B-D7D5-B621CFE60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Closed form solutions</a:t>
            </a:r>
          </a:p>
          <a:p>
            <a:r>
              <a:rPr lang="en-IN" dirty="0"/>
              <a:t>Easy to model and interpret</a:t>
            </a:r>
          </a:p>
          <a:p>
            <a:pPr lvl="1"/>
            <a:r>
              <a:rPr lang="en-IN" dirty="0"/>
              <a:t>Linear models are highly explainable</a:t>
            </a:r>
          </a:p>
          <a:p>
            <a:pPr lvl="2"/>
            <a:r>
              <a:rPr lang="en-IN" dirty="0"/>
              <a:t>Coefficients are representations of covariances</a:t>
            </a:r>
          </a:p>
          <a:p>
            <a:pPr lvl="1"/>
            <a:r>
              <a:rPr lang="en-IN" dirty="0"/>
              <a:t>Linear models are additive</a:t>
            </a:r>
          </a:p>
          <a:p>
            <a:pPr lvl="2"/>
            <a:r>
              <a:rPr lang="en-IN" dirty="0"/>
              <a:t>Easy to aggregate or combine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40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5C02C-3640-DF39-6EA9-DB780C00F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CD684-15BA-E68C-3628-B353F679B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ML perspective</a:t>
            </a:r>
          </a:p>
          <a:p>
            <a:pPr lvl="1"/>
            <a:r>
              <a:rPr lang="en-IN" dirty="0"/>
              <a:t>Given  values of </a:t>
            </a:r>
            <a:r>
              <a:rPr lang="en-IN" dirty="0" err="1"/>
              <a:t>x</a:t>
            </a:r>
            <a:r>
              <a:rPr lang="en-IN" baseline="-25000" dirty="0" err="1"/>
              <a:t>i</a:t>
            </a:r>
            <a:r>
              <a:rPr lang="en-IN" dirty="0" err="1"/>
              <a:t>s</a:t>
            </a:r>
            <a:r>
              <a:rPr lang="en-IN" baseline="-25000" dirty="0"/>
              <a:t> </a:t>
            </a:r>
            <a:r>
              <a:rPr lang="en-IN" dirty="0"/>
              <a:t>, can  we predict y?</a:t>
            </a:r>
          </a:p>
          <a:p>
            <a:pPr lvl="1"/>
            <a:r>
              <a:rPr lang="en-IN" dirty="0"/>
              <a:t>What is the model accuracy  - MSE</a:t>
            </a:r>
          </a:p>
          <a:p>
            <a:pPr lvl="1"/>
            <a:r>
              <a:rPr lang="en-IN" dirty="0"/>
              <a:t>Worry if the  model generalises </a:t>
            </a:r>
          </a:p>
          <a:p>
            <a:r>
              <a:rPr lang="en-IN" dirty="0"/>
              <a:t>Statistical perspective</a:t>
            </a:r>
          </a:p>
          <a:p>
            <a:pPr lvl="1"/>
            <a:r>
              <a:rPr lang="en-IN" dirty="0"/>
              <a:t>Can changes in </a:t>
            </a:r>
            <a:r>
              <a:rPr lang="en-IN" dirty="0" err="1"/>
              <a:t>x</a:t>
            </a:r>
            <a:r>
              <a:rPr lang="en-IN" baseline="-25000" dirty="0" err="1"/>
              <a:t>i</a:t>
            </a:r>
            <a:r>
              <a:rPr lang="en-IN" dirty="0" err="1"/>
              <a:t>s</a:t>
            </a:r>
            <a:r>
              <a:rPr lang="en-IN" dirty="0"/>
              <a:t> explain  changes in y?  - R</a:t>
            </a:r>
            <a:r>
              <a:rPr lang="en-IN" baseline="30000" dirty="0"/>
              <a:t>2</a:t>
            </a:r>
            <a:endParaRPr lang="en-IN" dirty="0"/>
          </a:p>
          <a:p>
            <a:pPr lvl="1"/>
            <a:r>
              <a:rPr lang="en-IN" dirty="0"/>
              <a:t>Are my coefficients and R</a:t>
            </a:r>
            <a:r>
              <a:rPr lang="en-IN" baseline="30000" dirty="0"/>
              <a:t>2   </a:t>
            </a:r>
            <a:r>
              <a:rPr lang="en-IN" dirty="0"/>
              <a:t>reliable - </a:t>
            </a:r>
            <a:r>
              <a:rPr lang="en-IN" dirty="0" err="1"/>
              <a:t>pvalues</a:t>
            </a:r>
            <a:endParaRPr lang="en-IN" dirty="0"/>
          </a:p>
          <a:p>
            <a:pPr lvl="1"/>
            <a:r>
              <a:rPr lang="en-IN" dirty="0"/>
              <a:t>Are underlying Assumptions still valid or are they violated</a:t>
            </a:r>
          </a:p>
          <a:p>
            <a:pPr lvl="2"/>
            <a:r>
              <a:rPr lang="en-IN" dirty="0"/>
              <a:t>Residual plot analysis </a:t>
            </a:r>
          </a:p>
          <a:p>
            <a:pPr lvl="1"/>
            <a:r>
              <a:rPr lang="en-IN" dirty="0"/>
              <a:t>Model is analysed to death -  is bound to  generalise.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9611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048B9-6D00-8D41-29BB-7BB4560E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5026C-6DC0-C05C-D709-8DE7F557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Simple linear regression </a:t>
            </a:r>
          </a:p>
          <a:p>
            <a:pPr lvl="1"/>
            <a:r>
              <a:rPr lang="en-IN" dirty="0"/>
              <a:t>Single input and single output Variable</a:t>
            </a:r>
          </a:p>
          <a:p>
            <a:r>
              <a:rPr lang="en-IN" dirty="0"/>
              <a:t>Objective –</a:t>
            </a:r>
          </a:p>
          <a:p>
            <a:pPr lvl="1"/>
            <a:r>
              <a:rPr lang="en-IN" dirty="0"/>
              <a:t>Fit a line that minimises sum of squared error 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Finding coefficients </a:t>
            </a:r>
          </a:p>
          <a:p>
            <a:pPr lvl="1"/>
            <a:r>
              <a:rPr lang="en-IN" dirty="0"/>
              <a:t>Equate first order partial derivatives of sum of  squared error to zero</a:t>
            </a:r>
          </a:p>
          <a:p>
            <a:pPr lvl="1"/>
            <a:r>
              <a:rPr lang="en-IN" dirty="0"/>
              <a:t>Solve the system of linear equations 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18AA90-BDDC-E1E2-DEEE-2DB260B6D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722" y="3120363"/>
            <a:ext cx="2339543" cy="61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39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6EC9-E6CE-3B39-B929-1A21B09E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A715D-3F80-1EAE-5F3A-201DA1EE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reliable is the model?</a:t>
            </a:r>
          </a:p>
          <a:p>
            <a:pPr lvl="1"/>
            <a:r>
              <a:rPr lang="en-IN" dirty="0"/>
              <a:t>Are the coefficients reliable  ?</a:t>
            </a:r>
          </a:p>
          <a:p>
            <a:pPr lvl="2"/>
            <a:r>
              <a:rPr lang="en-IN" dirty="0" err="1"/>
              <a:t>Pvalue</a:t>
            </a:r>
            <a:r>
              <a:rPr lang="en-IN" dirty="0"/>
              <a:t> of coefficient &lt; 0.05</a:t>
            </a:r>
          </a:p>
          <a:p>
            <a:pPr lvl="1"/>
            <a:r>
              <a:rPr lang="en-IN" dirty="0"/>
              <a:t>Is MSE really the reliable estimate ?</a:t>
            </a:r>
          </a:p>
          <a:p>
            <a:pPr lvl="2"/>
            <a:r>
              <a:rPr lang="en-IN" dirty="0"/>
              <a:t>Doesn’t take into account variance of y</a:t>
            </a:r>
          </a:p>
          <a:p>
            <a:pPr lvl="1"/>
            <a:r>
              <a:rPr lang="en-IN" dirty="0"/>
              <a:t>What fraction of the variance of   y can be explained by using x</a:t>
            </a:r>
          </a:p>
          <a:p>
            <a:pPr lvl="2"/>
            <a:r>
              <a:rPr lang="en-IN" dirty="0"/>
              <a:t>R</a:t>
            </a:r>
            <a:r>
              <a:rPr lang="en-IN" baseline="30000" dirty="0"/>
              <a:t>2</a:t>
            </a:r>
          </a:p>
          <a:p>
            <a:pPr lvl="1"/>
            <a:r>
              <a:rPr lang="en-IN" dirty="0"/>
              <a:t>How reliable  is  the value of R</a:t>
            </a:r>
            <a:r>
              <a:rPr lang="en-IN" baseline="30000" dirty="0"/>
              <a:t>2 </a:t>
            </a:r>
            <a:endParaRPr lang="en-IN" dirty="0"/>
          </a:p>
          <a:p>
            <a:pPr lvl="2"/>
            <a:r>
              <a:rPr lang="en-IN" dirty="0" err="1"/>
              <a:t>Pvalue</a:t>
            </a:r>
            <a:r>
              <a:rPr lang="en-IN" dirty="0"/>
              <a:t> of R</a:t>
            </a:r>
            <a:r>
              <a:rPr lang="en-IN" baseline="30000" dirty="0"/>
              <a:t>2 </a:t>
            </a:r>
            <a:r>
              <a:rPr lang="en-IN" dirty="0"/>
              <a:t>&lt; 0.05</a:t>
            </a:r>
          </a:p>
          <a:p>
            <a:pPr lvl="1"/>
            <a:r>
              <a:rPr lang="en-IN" dirty="0"/>
              <a:t>Is this much  enough?</a:t>
            </a:r>
          </a:p>
          <a:p>
            <a:pPr lvl="2"/>
            <a:r>
              <a:rPr lang="en-IN" dirty="0"/>
              <a:t>NO!!!</a:t>
            </a:r>
          </a:p>
          <a:p>
            <a:pPr lvl="2"/>
            <a:endParaRPr lang="en-IN" baseline="30000" dirty="0"/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8778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F884-66D4-B54B-83C6-347C4274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Residual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832D-C01D-4D4D-DC24-F9C5C524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Check Violations of LINE conditions</a:t>
            </a:r>
          </a:p>
          <a:p>
            <a:r>
              <a:rPr lang="en-IN" dirty="0"/>
              <a:t>If LINE conditions not violated</a:t>
            </a:r>
          </a:p>
          <a:p>
            <a:pPr lvl="1"/>
            <a:r>
              <a:rPr lang="en-IN" dirty="0"/>
              <a:t>A random scatter of residuals around the zero line </a:t>
            </a:r>
          </a:p>
          <a:p>
            <a:r>
              <a:rPr lang="en-IN" dirty="0"/>
              <a:t>Violations of conditions</a:t>
            </a:r>
          </a:p>
          <a:p>
            <a:pPr lvl="1"/>
            <a:r>
              <a:rPr lang="en-IN" dirty="0"/>
              <a:t>  Scatter of residuals may have a  prominent pattern</a:t>
            </a:r>
          </a:p>
          <a:p>
            <a:pPr lvl="1"/>
            <a:r>
              <a:rPr lang="en-IN" dirty="0"/>
              <a:t>  Insights from Pattern  </a:t>
            </a:r>
          </a:p>
          <a:p>
            <a:pPr lvl="2"/>
            <a:r>
              <a:rPr lang="en-IN" dirty="0"/>
              <a:t>Helpful to determine which condition violated</a:t>
            </a:r>
          </a:p>
          <a:p>
            <a:pPr lvl="2"/>
            <a:r>
              <a:rPr lang="en-IN" dirty="0"/>
              <a:t>Insights into alternative and better model designs</a:t>
            </a:r>
          </a:p>
          <a:p>
            <a:r>
              <a:rPr lang="en-IN" dirty="0"/>
              <a:t>Useful to determine if new variable can be added to model</a:t>
            </a:r>
          </a:p>
          <a:p>
            <a:pPr lvl="1"/>
            <a:r>
              <a:rPr lang="en-IN" dirty="0"/>
              <a:t>Plot the Residuals against a new independent feature</a:t>
            </a:r>
          </a:p>
          <a:p>
            <a:pPr lvl="1"/>
            <a:r>
              <a:rPr lang="en-IN" dirty="0"/>
              <a:t>If a pattern is observed , add the new  feature to the model</a:t>
            </a:r>
          </a:p>
          <a:p>
            <a:endParaRPr lang="en-IN" dirty="0"/>
          </a:p>
          <a:p>
            <a:pPr marL="1371600" lvl="3" indent="0">
              <a:buNone/>
            </a:pPr>
            <a:endParaRPr lang="en-IN" dirty="0"/>
          </a:p>
          <a:p>
            <a:pPr lvl="2"/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831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DC2B-CB10-AB9E-1F5E-3212D9FC0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7864B-CF44-2AB5-A201-8D3314D14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Explain how quality of fit is measured in simple linear regression </a:t>
            </a:r>
          </a:p>
          <a:p>
            <a:r>
              <a:rPr lang="en-IN" dirty="0"/>
              <a:t>Explain  LINE conditions </a:t>
            </a:r>
          </a:p>
          <a:p>
            <a:r>
              <a:rPr lang="en-IN" dirty="0"/>
              <a:t>Analyse role of Residual Analysis in  linear regression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61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487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Linear Regression Topics</vt:lpstr>
      <vt:lpstr>Agenda</vt:lpstr>
      <vt:lpstr>Overview of Machine Learning </vt:lpstr>
      <vt:lpstr>Regressions</vt:lpstr>
      <vt:lpstr>Why Linear Regression </vt:lpstr>
      <vt:lpstr>Two Perspectives</vt:lpstr>
      <vt:lpstr>Important Topics</vt:lpstr>
      <vt:lpstr>Validation </vt:lpstr>
      <vt:lpstr>Residual Analysis </vt:lpstr>
      <vt:lpstr>Practice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Patil</dc:creator>
  <cp:lastModifiedBy>Shailesh Patil</cp:lastModifiedBy>
  <cp:revision>8</cp:revision>
  <cp:lastPrinted>2025-02-14T11:51:05Z</cp:lastPrinted>
  <dcterms:created xsi:type="dcterms:W3CDTF">2025-02-13T17:26:45Z</dcterms:created>
  <dcterms:modified xsi:type="dcterms:W3CDTF">2025-04-11T09:46:15Z</dcterms:modified>
</cp:coreProperties>
</file>