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8" autoAdjust="0"/>
    <p:restoredTop sz="94660"/>
  </p:normalViewPr>
  <p:slideViewPr>
    <p:cSldViewPr snapToGrid="0">
      <p:cViewPr varScale="1">
        <p:scale>
          <a:sx n="88" d="100"/>
          <a:sy n="88" d="100"/>
        </p:scale>
        <p:origin x="86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95C2E-6A73-7D4C-C6C7-10FF7C4AE2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D4F6BD-1232-4823-C4DA-DEC0C944AF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FE28F-AAD4-EFF1-74FB-9349E170B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23136-807C-4F4F-87D6-2C7F1467FD7E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7DBB62-6C06-939B-5192-FF448DF22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33F04-990C-E09F-E31A-970AA6287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BDCBB-7472-45D7-A737-213DDDDB7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4549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D39C5-8336-0186-E706-ACCAB2DE3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4D429-0962-2C0F-68C1-1E770E59C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4768F-3D27-7BF7-4BE1-9F245F1A7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23136-807C-4F4F-87D6-2C7F1467FD7E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BCF9C-BCE8-D771-3B62-A29191239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7A296-D8D7-9F89-804C-F57AC6371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BDCBB-7472-45D7-A737-213DDDDB7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7382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935F6-3AC2-8133-37F4-73FC041B1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B8A438-D882-E1B8-8529-5C295B9D6F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AB84F-9A37-2E0E-2986-E30FB4210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23136-807C-4F4F-87D6-2C7F1467FD7E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8C6E3C-8F00-8315-8858-14541D32A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A12C7-359F-A67E-86AC-EA1E103B8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BDCBB-7472-45D7-A737-213DDDDB7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449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C66B6-896A-5CA9-E6E6-1AC75836A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41675-7DC7-C513-85C6-8FFB4F1F87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75C84C-C165-75C1-9349-A193305FC8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FD4917-7A42-C3CB-0F43-42967353B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23136-807C-4F4F-87D6-2C7F1467FD7E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11375D-ED25-474B-7EB0-489B790D4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18062C-D056-DDC7-D93D-08F4E74D0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BDCBB-7472-45D7-A737-213DDDDB7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0674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DEC87-1BB9-B776-637E-3453DACD3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084A33-5544-96A1-4FEF-19317F045B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07F58E-968C-E879-38E9-4EFF10E083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773EA0-1156-A858-E5F7-C2B8D47DF1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60E342-B4A9-94A6-008F-C2BF701103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125AE3-1CF6-AF52-3E21-1ECE1546D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23136-807C-4F4F-87D6-2C7F1467FD7E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A5BF18-97FD-736A-4B84-6CAAB79D8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D5DAAF-FB65-BCBB-AE4C-4B2AA3E8A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BDCBB-7472-45D7-A737-213DDDDB7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9734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DEAE9-9C18-BA07-C38F-BEB3EE5DF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EB71D7-EC69-19E4-B4CD-8C25D46DE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23136-807C-4F4F-87D6-2C7F1467FD7E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50E026-163C-F0C7-95F8-6766888DD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68ACB0-0FCC-7720-37D1-39234D3F2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BDCBB-7472-45D7-A737-213DDDDB7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636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BE83D9-2138-40F5-3B52-CEDDF1914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23136-807C-4F4F-87D6-2C7F1467FD7E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46399D-DFED-B1E6-4952-9C09A4BF8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22591-94D0-DACB-756D-FD5D94BDE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BDCBB-7472-45D7-A737-213DDDDB7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4267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7619D-A87C-64CA-4BB9-996C86966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CF10A-1547-7970-5F56-ECD1182AC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0C1038-3490-EAD6-3E38-66D1B4DF26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260DC1-1761-064A-7D81-32425672E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23136-807C-4F4F-87D6-2C7F1467FD7E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09B3BC-F1CF-6BAA-F662-BAF84DE70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09A421-4C8A-FE7B-EDED-78A16DBA2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BDCBB-7472-45D7-A737-213DDDDB7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7056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AFA20-934C-72D2-F21D-7AC1CD855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A88926-F76E-A75F-4917-8F12DA1F39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433C45-F14F-60B2-4EA3-6F05CD31B6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A9580C-B86D-F0E8-60F6-8464F7C06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23136-807C-4F4F-87D6-2C7F1467FD7E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DDCAAA-D972-E970-7274-96D8834FC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587AE6-34B4-2D81-878B-A70683CE7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BDCBB-7472-45D7-A737-213DDDDB7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9629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8EC80-31F9-4978-52FA-B6C6B2746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9DFE67-E209-74AA-B60B-44363DF4CF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F31D2-156D-7AF0-93B9-38EE15CFF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23136-807C-4F4F-87D6-2C7F1467FD7E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6EFF0-606D-217B-250E-498171574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563354-1B06-ACD7-2279-B38AC97D5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BDCBB-7472-45D7-A737-213DDDDB7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317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BBB697-E471-DAFD-B5E0-0AFF0C6243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AF3B5B-2928-FAB5-FFD2-9090BD5328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4F749-63AB-C2F6-084C-8FA7E6CB3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23136-807C-4F4F-87D6-2C7F1467FD7E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86111-73A1-C029-AEA1-1A908A72A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4252C-4B32-FC42-A85A-CE48EE52E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BDCBB-7472-45D7-A737-213DDDDB7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640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338B75-3A1C-A1A1-C991-3C3094852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7F385-E330-F297-5B6E-ECBFFB78CD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99FC1-82BA-F144-DE08-5D02191359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923136-807C-4F4F-87D6-2C7F1467FD7E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93D99-995E-903F-8F07-C7CF6306DE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6CF96-8EEC-2200-58E2-57193DFB5D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3BDCBB-7472-45D7-A737-213DDDDB74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347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B9C57-425D-0F42-B3D6-6F594DE851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Class Imbalance/Skew</a:t>
            </a:r>
          </a:p>
        </p:txBody>
      </p:sp>
    </p:spTree>
    <p:extLst>
      <p:ext uri="{BB962C8B-B14F-4D97-AF65-F5344CB8AC3E}">
        <p14:creationId xmlns:p14="http://schemas.microsoft.com/office/powerpoint/2010/main" val="1148193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0F259-5465-9718-540B-DE2E6C4C3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 Imbalance /Skew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CEC0E-5C3D-9E65-BC34-C5EA3F6D5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Consider data set with two classes C1 and C2</a:t>
            </a:r>
          </a:p>
          <a:p>
            <a:pPr lvl="1"/>
            <a:r>
              <a:rPr lang="en-IN" dirty="0"/>
              <a:t>Majority of the data belongs to C1 </a:t>
            </a:r>
          </a:p>
          <a:p>
            <a:pPr lvl="1"/>
            <a:r>
              <a:rPr lang="en-IN" dirty="0"/>
              <a:t>C2 gets very small sample share</a:t>
            </a:r>
          </a:p>
          <a:p>
            <a:r>
              <a:rPr lang="en-IN" dirty="0"/>
              <a:t>Accuray remains good even when entire data is predicted as C1</a:t>
            </a:r>
          </a:p>
          <a:p>
            <a:pPr lvl="1"/>
            <a:r>
              <a:rPr lang="en-IN" dirty="0"/>
              <a:t>Meaningless</a:t>
            </a:r>
          </a:p>
          <a:p>
            <a:pPr lvl="1"/>
            <a:r>
              <a:rPr lang="en-IN" dirty="0"/>
              <a:t>Harmful if small class is really critical </a:t>
            </a:r>
          </a:p>
          <a:p>
            <a:pPr lvl="2"/>
            <a:r>
              <a:rPr lang="en-IN" dirty="0" err="1"/>
              <a:t>Eg</a:t>
            </a:r>
            <a:r>
              <a:rPr lang="en-IN" dirty="0"/>
              <a:t>- Cancer, bugs/faults in system such nuclear rector</a:t>
            </a:r>
          </a:p>
          <a:p>
            <a:pPr lvl="2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5652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D7A1-311B-1964-7DC0-0ABD2B40A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Remedies for class imbalance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6776C-1FD0-AEB8-5889-514F21AC1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Tune the Threshold</a:t>
            </a:r>
          </a:p>
          <a:p>
            <a:pPr lvl="1"/>
            <a:r>
              <a:rPr lang="en-IN" dirty="0"/>
              <a:t>For classifiers with probability as output, shift the classification  cutoff </a:t>
            </a:r>
          </a:p>
          <a:p>
            <a:pPr lvl="2"/>
            <a:r>
              <a:rPr lang="en-IN" dirty="0" err="1"/>
              <a:t>Eg.</a:t>
            </a:r>
            <a:r>
              <a:rPr lang="en-IN" dirty="0"/>
              <a:t> for logistic regression, shift  the cutoff away from default 0.5</a:t>
            </a:r>
          </a:p>
          <a:p>
            <a:pPr lvl="2"/>
            <a:r>
              <a:rPr lang="en-IN" dirty="0"/>
              <a:t> Find new cutoff using hyper-parameter tuning /k-fold cross validation</a:t>
            </a:r>
          </a:p>
          <a:p>
            <a:r>
              <a:rPr lang="en-IN" dirty="0"/>
              <a:t>Under-sample the larger class	</a:t>
            </a:r>
          </a:p>
          <a:p>
            <a:pPr lvl="2"/>
            <a:r>
              <a:rPr lang="en-IN" dirty="0"/>
              <a:t>Can reduce class skew</a:t>
            </a:r>
          </a:p>
          <a:p>
            <a:pPr lvl="2"/>
            <a:r>
              <a:rPr lang="en-IN" dirty="0"/>
              <a:t>Might impact accuracy due to loss of useful variance</a:t>
            </a:r>
          </a:p>
          <a:p>
            <a:pPr lvl="2"/>
            <a:r>
              <a:rPr lang="en-IN" dirty="0"/>
              <a:t>Remedies ?</a:t>
            </a:r>
          </a:p>
          <a:p>
            <a:r>
              <a:rPr lang="en-IN" dirty="0"/>
              <a:t>Over sample the smaller class</a:t>
            </a:r>
          </a:p>
          <a:p>
            <a:pPr lvl="2"/>
            <a:r>
              <a:rPr lang="en-IN" dirty="0"/>
              <a:t>Interpolation such as SMOTE</a:t>
            </a:r>
          </a:p>
          <a:p>
            <a:r>
              <a:rPr lang="en-IN" dirty="0"/>
              <a:t>Class weight:</a:t>
            </a:r>
          </a:p>
          <a:p>
            <a:pPr lvl="1"/>
            <a:r>
              <a:rPr lang="en-IN" dirty="0"/>
              <a:t>Don’t treat error on all classes as equal – </a:t>
            </a:r>
          </a:p>
          <a:p>
            <a:pPr lvl="2"/>
            <a:r>
              <a:rPr lang="en-IN" dirty="0"/>
              <a:t>Penalise errors on smaller class heavily</a:t>
            </a:r>
          </a:p>
          <a:p>
            <a:pPr lvl="2"/>
            <a:r>
              <a:rPr lang="en-IN" dirty="0"/>
              <a:t>Change the  error function. </a:t>
            </a:r>
          </a:p>
          <a:p>
            <a:pPr lvl="2"/>
            <a:r>
              <a:rPr lang="en-IN" dirty="0"/>
              <a:t>Average error changes to weighted average with higher weight to smaller class. </a:t>
            </a:r>
          </a:p>
          <a:p>
            <a:endParaRPr lang="en-IN" dirty="0"/>
          </a:p>
          <a:p>
            <a:pPr lvl="2"/>
            <a:endParaRPr lang="en-IN" dirty="0"/>
          </a:p>
          <a:p>
            <a:pPr lvl="2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6459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715F0-E81F-45F4-7057-A240266A6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Making under-sampling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A0E88-3954-D557-8448-77A1A48C8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Bagging</a:t>
            </a:r>
          </a:p>
          <a:p>
            <a:pPr lvl="1"/>
            <a:r>
              <a:rPr lang="en-IN" dirty="0"/>
              <a:t>Create multiple sub samples for bigger class</a:t>
            </a:r>
          </a:p>
          <a:p>
            <a:pPr lvl="2"/>
            <a:r>
              <a:rPr lang="en-IN" dirty="0"/>
              <a:t>How many?</a:t>
            </a:r>
          </a:p>
          <a:p>
            <a:pPr lvl="1"/>
            <a:r>
              <a:rPr lang="en-IN" dirty="0"/>
              <a:t>Train a model on each of them against the  smaller class</a:t>
            </a:r>
          </a:p>
          <a:p>
            <a:pPr lvl="1"/>
            <a:r>
              <a:rPr lang="en-IN" dirty="0"/>
              <a:t>Aggregate the results of all such models – voting/average</a:t>
            </a:r>
          </a:p>
          <a:p>
            <a:pPr lvl="1"/>
            <a:r>
              <a:rPr lang="en-IN" dirty="0"/>
              <a:t>Advantages</a:t>
            </a:r>
          </a:p>
          <a:p>
            <a:pPr lvl="2"/>
            <a:r>
              <a:rPr lang="en-IN" dirty="0"/>
              <a:t>Preserves the useful variance in larger class</a:t>
            </a:r>
          </a:p>
          <a:p>
            <a:pPr lvl="2"/>
            <a:r>
              <a:rPr lang="en-IN" dirty="0"/>
              <a:t>Ensemble reduces the  classification error</a:t>
            </a:r>
          </a:p>
          <a:p>
            <a:r>
              <a:rPr lang="en-IN" dirty="0"/>
              <a:t>Clustering</a:t>
            </a:r>
          </a:p>
          <a:p>
            <a:pPr lvl="1"/>
            <a:r>
              <a:rPr lang="en-IN" dirty="0"/>
              <a:t>Partition the larger class using clustering algorithm</a:t>
            </a:r>
          </a:p>
          <a:p>
            <a:pPr lvl="1"/>
            <a:r>
              <a:rPr lang="en-IN" dirty="0"/>
              <a:t>Train a model for each cluster  of larger class vs smaller class</a:t>
            </a:r>
          </a:p>
          <a:p>
            <a:pPr lvl="1"/>
            <a:r>
              <a:rPr lang="en-IN" dirty="0"/>
              <a:t>Prediction</a:t>
            </a:r>
          </a:p>
          <a:p>
            <a:pPr lvl="2"/>
            <a:r>
              <a:rPr lang="en-IN" dirty="0"/>
              <a:t>Map data point to appropriate cluster</a:t>
            </a:r>
          </a:p>
          <a:p>
            <a:pPr lvl="2"/>
            <a:r>
              <a:rPr lang="en-IN" dirty="0"/>
              <a:t>Use the model trained on that cluster to predict the class </a:t>
            </a:r>
          </a:p>
          <a:p>
            <a:pPr marL="914400" lvl="2" indent="0">
              <a:buNone/>
            </a:pPr>
            <a:endParaRPr lang="en-IN" dirty="0"/>
          </a:p>
          <a:p>
            <a:endParaRPr lang="en-IN" dirty="0"/>
          </a:p>
          <a:p>
            <a:pPr lvl="2"/>
            <a:endParaRPr lang="en-IN" dirty="0"/>
          </a:p>
          <a:p>
            <a:pPr lvl="2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2760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2529B-B398-F72E-726B-1D11B356D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Practice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B74F1-3AD5-56D4-F7A6-9B9FC0388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Analyse impact of class imbalance </a:t>
            </a:r>
          </a:p>
          <a:p>
            <a:r>
              <a:rPr lang="en-IN" dirty="0"/>
              <a:t>Elaborate  remedies for class imbalance</a:t>
            </a:r>
          </a:p>
          <a:p>
            <a:r>
              <a:rPr lang="en-IN" dirty="0"/>
              <a:t>Analyse drawbacks of under-sampling  in class imbalance and evaluate various remedies.</a:t>
            </a:r>
          </a:p>
          <a:p>
            <a:r>
              <a:rPr lang="en-IN" dirty="0"/>
              <a:t>Explain SMOTE algorithm and evaluate its role in handling class imbalance. </a:t>
            </a:r>
          </a:p>
        </p:txBody>
      </p:sp>
    </p:spTree>
    <p:extLst>
      <p:ext uri="{BB962C8B-B14F-4D97-AF65-F5344CB8AC3E}">
        <p14:creationId xmlns:p14="http://schemas.microsoft.com/office/powerpoint/2010/main" val="37845023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290</Words>
  <Application>Microsoft Office PowerPoint</Application>
  <PresentationFormat>Widescreen</PresentationFormat>
  <Paragraphs>48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Class Imbalance/Skew</vt:lpstr>
      <vt:lpstr>Class Imbalance /Skew</vt:lpstr>
      <vt:lpstr>Remedies for class imbalance</vt:lpstr>
      <vt:lpstr>Making under-sampling work</vt:lpstr>
      <vt:lpstr>Practice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Shailesh Patil</dc:creator>
  <cp:lastModifiedBy>Shailesh Patil</cp:lastModifiedBy>
  <cp:revision>1</cp:revision>
  <dcterms:created xsi:type="dcterms:W3CDTF">2025-04-07T05:57:36Z</dcterms:created>
  <dcterms:modified xsi:type="dcterms:W3CDTF">2025-04-07T10:04:18Z</dcterms:modified>
</cp:coreProperties>
</file>