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8" autoAdjust="0"/>
    <p:restoredTop sz="94660"/>
  </p:normalViewPr>
  <p:slideViewPr>
    <p:cSldViewPr snapToGrid="0">
      <p:cViewPr varScale="1">
        <p:scale>
          <a:sx n="88" d="100"/>
          <a:sy n="88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101E3-31DE-4880-A1F0-6FEDBD0B0C32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F64A11-0626-48CF-B746-A3D8EB21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511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F64A11-0626-48CF-B746-A3D8EB21995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015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6619-F66B-FBC0-EC81-BCC6C401E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0980A-79D1-250B-0E0E-37F34F1F6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2FFC8-2CDF-3CE4-917F-2B63DC4F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0DC16-4E00-9BE6-7990-9825EAFB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34EB2-EE54-57BA-2AE4-60DA2712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152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33A3-D519-C9A7-B199-8F8DFFDE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A5BE6-3A81-8FC7-B458-40A244E7E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969F5-7818-662D-65C8-2FD5C570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5D8EB-A2B0-39E5-F426-F23322CB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1C3AD-94DD-25A9-86D4-CA91DBCD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765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8731-D569-2D94-1B6B-7702A449F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5BC8F-D5B4-6504-7E95-1BFF0086F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95E4E-6C90-4F86-919D-3C390F938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158B1-1068-F26B-A208-2E34DA6A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75F28-9DBA-7693-B08C-266CB1D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78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0474-33F2-5F46-CCEB-BDDEA091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1133A-05CC-E8B4-A012-078929AE4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ADC22-F15E-B2D8-6521-997420D19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757FE-91BB-2113-9021-9D040977F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CE185-32B9-08E9-2DD9-C35CC2A9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8301C-A121-5A10-BEBC-776F4B8B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915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C850-FD0B-9386-1094-512CC033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B28E7-7458-DC44-A2DD-0F84263BC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48806-3BFA-2F62-AFFC-65CC57C72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48149-EC7F-DA69-7227-C37AEA5E7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20E37-D2DF-AABD-262F-D47DACBF7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76A343-EBDB-8267-6044-8C6D740F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C5AFB7-1F56-AD0C-251E-EE35C9607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A5DA9A-BFC8-D5EF-847F-92F4E9E6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9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6CE9-6454-D2CA-9091-FFD85D45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AF28E-5E24-24D8-C42E-F59EF891E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30A46-17F0-A4A4-3ACC-EB5F62A7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E0B75-450F-A29D-F862-8EEB6D48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08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5B05E8-8B62-0FDF-9160-28B21EE68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3E055-6ECB-89AE-6AF0-C3BFF73E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B0C50-8295-0326-9CFA-B65241A4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96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49E3-7AAD-F4F7-851E-180E981E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2BFE7-08AC-95D6-B4CC-33CE3A418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43C15-8671-329F-1146-CF92E0E5D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A614C-F7D6-6E8C-F035-3EC5FBAF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4021B-9E2C-F9A2-B4C6-9F6413AF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B9D6E-F90D-6B4A-003A-C82F7741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200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F568-F7D8-C717-9A7E-C6C3C084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B169E-6C24-9BFE-B2B0-C92230B4B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D6E3D-EADD-5466-B999-BF7D851E3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0D91F-6381-7270-8F83-D1652315C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96639-5893-E243-E411-A63BAE8C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1DCE8-1FED-A237-0523-AAB4B716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61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CC0A-D1D6-096D-E3E3-979821BE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E063D-6041-D119-EE9C-D12D4EB98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600EE-60E3-19EE-8B37-9582F058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AE18-68DF-A0A7-4859-256155C6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D8DBE-1042-C00F-4C24-4652510C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13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E985FB-24E9-6F20-19BA-DC9C13EAD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47A25-FF50-F89C-37F6-536C225AF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43358-9159-190B-C231-339271F7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3ADF4-8A60-4D16-166B-28303CE2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B0CC4-162B-BED1-8F46-1E8AB2CD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92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BE46B-8D25-4971-19A7-4406F6BD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E7BB1-4DEC-0212-53EE-891E6636B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590D6-8498-59F6-AED7-ABC29D34E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215B8-8887-4798-A82F-A97BAE8844E4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13DF7-FAF7-72C6-F0C8-E0D15E07D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68ED1-5D66-D507-BAC0-80BA6DF43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55C67-1B17-4C08-BB42-3426702C6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54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EEEC-5E3A-AE70-160B-1E8AE3964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Model work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95264-09F9-113C-B193-38A0E7BB61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451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D446-9BC4-43B6-122F-0B0D80A1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 of 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4CE00-B7CF-ECDE-376F-D38BF388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Design a robust model</a:t>
            </a:r>
          </a:p>
          <a:p>
            <a:pPr lvl="1"/>
            <a:r>
              <a:rPr lang="en-IN" dirty="0"/>
              <a:t>Learns meaningful patterns in data</a:t>
            </a:r>
          </a:p>
          <a:p>
            <a:pPr lvl="1"/>
            <a:r>
              <a:rPr lang="en-IN" dirty="0"/>
              <a:t>Avoids spurious patterns and does not hallucinate</a:t>
            </a:r>
          </a:p>
          <a:p>
            <a:pPr lvl="1"/>
            <a:r>
              <a:rPr lang="en-IN" dirty="0"/>
              <a:t>Achieves maximum accuracy </a:t>
            </a:r>
          </a:p>
          <a:p>
            <a:pPr lvl="1"/>
            <a:r>
              <a:rPr lang="en-IN" dirty="0"/>
              <a:t>Minimal complexity :faster prediction at lower computational cost and</a:t>
            </a:r>
          </a:p>
          <a:p>
            <a:pPr lvl="1"/>
            <a:r>
              <a:rPr lang="en-IN" dirty="0"/>
              <a:t>Generalises in the  production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872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A50A-0DB2-EFAD-C2B1-C33E3157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achieve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2980A-49BD-A01D-5D00-BD5A0165E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the data at hand effectively</a:t>
            </a:r>
          </a:p>
          <a:p>
            <a:pPr lvl="1"/>
            <a:r>
              <a:rPr lang="en-IN" dirty="0"/>
              <a:t>Pre-process</a:t>
            </a:r>
          </a:p>
          <a:p>
            <a:r>
              <a:rPr lang="en-IN" dirty="0"/>
              <a:t>Determines which features are really needed</a:t>
            </a:r>
          </a:p>
          <a:p>
            <a:r>
              <a:rPr lang="en-IN" dirty="0"/>
              <a:t>Identify outliers and assess their impact</a:t>
            </a:r>
          </a:p>
          <a:p>
            <a:r>
              <a:rPr lang="en-IN" dirty="0"/>
              <a:t>Control complexity  through regularisation</a:t>
            </a:r>
          </a:p>
          <a:p>
            <a:r>
              <a:rPr lang="en-IN" dirty="0"/>
              <a:t>Ensure consistency/reproducibility through </a:t>
            </a:r>
          </a:p>
          <a:p>
            <a:pPr lvl="1"/>
            <a:r>
              <a:rPr lang="en-IN" dirty="0"/>
              <a:t>K-fold cross validation and </a:t>
            </a:r>
          </a:p>
          <a:p>
            <a:pPr lvl="1"/>
            <a:r>
              <a:rPr lang="en-IN" dirty="0"/>
              <a:t>Out of sample testing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649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A505-C3E8-EEAE-14BE-D89D8B71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DD04-98A9-B366-CCB8-6995D563D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F0"/>
                </a:solidFill>
              </a:rPr>
              <a:t>Substitute missing values – Imputation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F0"/>
                </a:solidFill>
              </a:rPr>
              <a:t>Encode categorical data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F0"/>
                </a:solidFill>
              </a:rPr>
              <a:t>Normalise numerical data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F0"/>
                </a:solidFill>
              </a:rPr>
              <a:t>Remove outliers (only from train data)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50"/>
                </a:solidFill>
              </a:rPr>
              <a:t>Test-train split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50"/>
                </a:solidFill>
              </a:rPr>
              <a:t>Train one or more models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50"/>
                </a:solidFill>
              </a:rPr>
              <a:t>Tune  and regularise using hyper-parameters for each model using k-fold cross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50"/>
                </a:solidFill>
              </a:rPr>
              <a:t>For each model - Check feature importance drop not so important  and drop unimportant features iteratively and retrain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00B050"/>
                </a:solidFill>
              </a:rPr>
              <a:t>Evaluate model on test set and report test accuracy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>
                <a:solidFill>
                  <a:srgbClr val="7030A0"/>
                </a:solidFill>
              </a:rPr>
              <a:t>If there are resource constrains  and if at-least one model has desired level of accuracy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6400" dirty="0">
                <a:solidFill>
                  <a:srgbClr val="7030A0"/>
                </a:solidFill>
              </a:rPr>
              <a:t>Chose most appropriate model using k-fold cross validation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400" dirty="0" err="1">
                <a:solidFill>
                  <a:srgbClr val="7030A0"/>
                </a:solidFill>
              </a:rPr>
              <a:t>Opt</a:t>
            </a:r>
            <a:r>
              <a:rPr lang="en-IN" sz="6400" dirty="0">
                <a:solidFill>
                  <a:srgbClr val="7030A0"/>
                </a:solidFill>
              </a:rPr>
              <a:t> for ensemble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6400" dirty="0">
                <a:solidFill>
                  <a:srgbClr val="7030A0"/>
                </a:solidFill>
              </a:rPr>
              <a:t>If no individual model achieved required level of accuracy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6400" dirty="0">
                <a:solidFill>
                  <a:srgbClr val="7030A0"/>
                </a:solidFill>
              </a:rPr>
              <a:t>If resources are not a constraint and there is diversity in model </a:t>
            </a:r>
            <a:r>
              <a:rPr lang="en-IN" sz="6400" dirty="0" err="1">
                <a:solidFill>
                  <a:srgbClr val="7030A0"/>
                </a:solidFill>
              </a:rPr>
              <a:t>outcomesC</a:t>
            </a:r>
            <a:endParaRPr lang="en-IN" sz="6400" dirty="0">
              <a:solidFill>
                <a:srgbClr val="7030A0"/>
              </a:solidFill>
            </a:endParaRPr>
          </a:p>
          <a:p>
            <a:pPr marL="1371600" lvl="2" indent="-457200">
              <a:buFont typeface="+mj-lt"/>
              <a:buAutoNum type="arabicPeriod"/>
            </a:pPr>
            <a:endParaRPr lang="en-IN" dirty="0"/>
          </a:p>
          <a:p>
            <a:pPr marL="914400" lvl="2" indent="0">
              <a:buNone/>
            </a:pPr>
            <a:endParaRPr lang="en-IN" sz="4500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0F241-2242-F923-4B26-0D4EBDE47ABF}"/>
              </a:ext>
            </a:extLst>
          </p:cNvPr>
          <p:cNvSpPr txBox="1"/>
          <p:nvPr/>
        </p:nvSpPr>
        <p:spPr>
          <a:xfrm>
            <a:off x="7994469" y="1493519"/>
            <a:ext cx="3187337" cy="147732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 err="1"/>
              <a:t>Color</a:t>
            </a:r>
            <a:r>
              <a:rPr lang="en-IN" sz="1800" dirty="0"/>
              <a:t> coding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F0"/>
                </a:solidFill>
              </a:rPr>
              <a:t>Preprocessing</a:t>
            </a:r>
            <a:r>
              <a:rPr lang="en-IN" dirty="0"/>
              <a:t>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B050"/>
                </a:solidFill>
              </a:rPr>
              <a:t>Model training and testing</a:t>
            </a:r>
            <a:r>
              <a:rPr lang="en-IN" dirty="0"/>
              <a:t>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7030A0"/>
                </a:solidFill>
              </a:rPr>
              <a:t>Enhancements</a:t>
            </a:r>
          </a:p>
        </p:txBody>
      </p:sp>
    </p:spTree>
    <p:extLst>
      <p:ext uri="{BB962C8B-B14F-4D97-AF65-F5344CB8AC3E}">
        <p14:creationId xmlns:p14="http://schemas.microsoft.com/office/powerpoint/2010/main" val="79540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8957-C8B6-0507-ECAF-FCC25E25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Imputation/Missing Value Substitution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A5C94-0951-A9DD-BCC5-0E39C85D1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</a:pPr>
            <a:r>
              <a:rPr lang="en-IN" dirty="0"/>
              <a:t> Reference :https://www.geeksforgeeks.org/data-imputation-techniques-in-ml/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Common approaches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Mean/median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Mode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KNN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Regression imputation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dirty="0"/>
              <a:t>Points missed in reference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IN" dirty="0"/>
              <a:t>If feature has too many missing values ( more than 20% or 30%)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IN" dirty="0"/>
              <a:t>Imputation (particularly regression) can introduce multicollinearity 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IN" dirty="0"/>
              <a:t>Its better to drop the feature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14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4FB0-B17B-3174-ABC4-C1E7B6173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Encode 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9826E-5991-6D09-FB3D-36F05127D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Types of categorical variables</a:t>
            </a:r>
          </a:p>
          <a:p>
            <a:pPr lvl="1"/>
            <a:r>
              <a:rPr lang="en-IN" dirty="0"/>
              <a:t>Ordinal</a:t>
            </a:r>
          </a:p>
          <a:p>
            <a:pPr lvl="2"/>
            <a:r>
              <a:rPr lang="en-IN" dirty="0"/>
              <a:t>Inherent order present in feature values</a:t>
            </a:r>
          </a:p>
          <a:p>
            <a:pPr lvl="3"/>
            <a:r>
              <a:rPr lang="en-IN" dirty="0"/>
              <a:t>Small, large, extra large etc</a:t>
            </a:r>
          </a:p>
          <a:p>
            <a:pPr lvl="3"/>
            <a:r>
              <a:rPr lang="en-IN" dirty="0"/>
              <a:t>Absent, mild , moderate, severe, very severe</a:t>
            </a:r>
          </a:p>
          <a:p>
            <a:pPr lvl="3"/>
            <a:r>
              <a:rPr lang="en-IN" dirty="0"/>
              <a:t>Star ratings in ecommerce </a:t>
            </a:r>
          </a:p>
          <a:p>
            <a:pPr lvl="1"/>
            <a:r>
              <a:rPr lang="en-IN" dirty="0"/>
              <a:t>Nominal </a:t>
            </a:r>
          </a:p>
          <a:p>
            <a:pPr lvl="2"/>
            <a:r>
              <a:rPr lang="en-IN" dirty="0"/>
              <a:t>No inherent order in the feature values </a:t>
            </a:r>
          </a:p>
          <a:p>
            <a:pPr lvl="3"/>
            <a:r>
              <a:rPr lang="en-IN" dirty="0" err="1"/>
              <a:t>Colors</a:t>
            </a:r>
            <a:endParaRPr lang="en-IN" dirty="0"/>
          </a:p>
          <a:p>
            <a:pPr lvl="3"/>
            <a:r>
              <a:rPr lang="en-IN" dirty="0"/>
              <a:t>Brands</a:t>
            </a:r>
          </a:p>
          <a:p>
            <a:pPr lvl="1"/>
            <a:r>
              <a:rPr lang="en-IN" dirty="0"/>
              <a:t>Binary</a:t>
            </a:r>
          </a:p>
          <a:p>
            <a:pPr lvl="2"/>
            <a:r>
              <a:rPr lang="en-IN" dirty="0"/>
              <a:t>Feature takes two values mostly  yes/no or +</a:t>
            </a:r>
            <a:r>
              <a:rPr lang="en-IN" dirty="0" err="1"/>
              <a:t>ve</a:t>
            </a:r>
            <a:r>
              <a:rPr lang="en-IN" dirty="0"/>
              <a:t>, -</a:t>
            </a:r>
            <a:r>
              <a:rPr lang="en-IN" dirty="0" err="1"/>
              <a:t>ve</a:t>
            </a:r>
            <a:r>
              <a:rPr lang="en-IN" dirty="0"/>
              <a:t> type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8419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DDC1-AD54-9006-5532-AFD042B9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77B1D-CB90-E5F0-BFAA-23ABD9FCA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One hot</a:t>
            </a:r>
          </a:p>
          <a:p>
            <a:pPr lvl="1"/>
            <a:r>
              <a:rPr lang="en-IN" dirty="0"/>
              <a:t>Useful for nominal data</a:t>
            </a:r>
          </a:p>
          <a:p>
            <a:pPr lvl="1"/>
            <a:r>
              <a:rPr lang="en-IN" dirty="0"/>
              <a:t>Converts each value of the categorical feature in to a separate feature</a:t>
            </a:r>
          </a:p>
          <a:p>
            <a:pPr lvl="1"/>
            <a:r>
              <a:rPr lang="en-IN" dirty="0"/>
              <a:t>Values of new feature are one if that value is present for the given data point else its zero</a:t>
            </a:r>
          </a:p>
          <a:p>
            <a:r>
              <a:rPr lang="en-IN" dirty="0"/>
              <a:t>Label Encoding</a:t>
            </a:r>
          </a:p>
          <a:p>
            <a:pPr lvl="1"/>
            <a:r>
              <a:rPr lang="en-IN" dirty="0"/>
              <a:t>Useful for ordinal data</a:t>
            </a:r>
          </a:p>
          <a:p>
            <a:pPr lvl="1"/>
            <a:r>
              <a:rPr lang="en-IN" dirty="0"/>
              <a:t>Converts each value into unique integer.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331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5002-9187-9504-9633-4AE9EBEC6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D99AE-D5AB-D429-C3D9-1AED3CA7D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Explain steps involved in training model</a:t>
            </a:r>
          </a:p>
          <a:p>
            <a:r>
              <a:rPr lang="en-IN" dirty="0"/>
              <a:t>Explain methods to handle missing values</a:t>
            </a:r>
          </a:p>
          <a:p>
            <a:r>
              <a:rPr lang="en-IN" dirty="0"/>
              <a:t>How categorical features are handled ?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548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1672</TotalTime>
  <Words>398</Words>
  <Application>Microsoft Office PowerPoint</Application>
  <PresentationFormat>Widescreen</PresentationFormat>
  <Paragraphs>76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Model work flow</vt:lpstr>
      <vt:lpstr>Objective  of machine learning </vt:lpstr>
      <vt:lpstr>How to achieve</vt:lpstr>
      <vt:lpstr>Steps</vt:lpstr>
      <vt:lpstr>Imputation/Missing Value Substitution </vt:lpstr>
      <vt:lpstr>Encode Categorical Data</vt:lpstr>
      <vt:lpstr>Types of Encoding</vt:lpstr>
      <vt:lpstr>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Shailesh Patil</dc:creator>
  <cp:lastModifiedBy>Shailesh Patil</cp:lastModifiedBy>
  <cp:revision>5</cp:revision>
  <dcterms:created xsi:type="dcterms:W3CDTF">2025-04-15T07:02:46Z</dcterms:created>
  <dcterms:modified xsi:type="dcterms:W3CDTF">2025-04-19T08:34:23Z</dcterms:modified>
</cp:coreProperties>
</file>