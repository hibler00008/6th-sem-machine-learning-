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6858000" cy="9144000"/>
  <p:embeddedFontLs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XNwIdWxH23YwkYQS068DtvA9n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OpenSans-italic.fntdata"/><Relationship Id="rId10" Type="http://schemas.openxmlformats.org/officeDocument/2006/relationships/slide" Target="slides/slide6.xml"/><Relationship Id="rId32" Type="http://schemas.openxmlformats.org/officeDocument/2006/relationships/font" Target="fonts/OpenSans-bold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Multiple Linear Regression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Agenda/Topics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Multiple linear regression – Problem formulation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Interpretation of coefficients,  and their p-values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Adjusted R</a:t>
            </a:r>
            <a:r>
              <a:rPr baseline="30000" lang="en-IN"/>
              <a:t>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Matrix form and solution, H matrix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Risks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Multicollinearity 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VIF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Outliers, influence , leverage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Cook’s distance, DEFITS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Selecting subset of parameters for final model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Underfit ? Overfit?</a:t>
            </a:r>
            <a:endParaRPr/>
          </a:p>
          <a:p>
            <a:pPr indent="-11112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112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Problem Formulation</a:t>
            </a:r>
            <a:endParaRPr/>
          </a:p>
        </p:txBody>
      </p:sp>
      <p:pic>
        <p:nvPicPr>
          <p:cNvPr id="96" name="Google Shape;96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536" y="2652643"/>
            <a:ext cx="11443464" cy="87865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3550024" y="4139313"/>
            <a:ext cx="3469341" cy="7078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6205" l="0" r="0" t="-155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995082" y="1690688"/>
            <a:ext cx="67504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 model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Estimation through Sample 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444F"/>
              </a:buClr>
              <a:buSzPts val="2800"/>
              <a:buChar char="•"/>
            </a:pPr>
            <a:r>
              <a:rPr b="0" i="0"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/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0806" y="1690688"/>
            <a:ext cx="7240276" cy="63650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838200" y="3039034"/>
            <a:ext cx="10793506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interpretation of b</a:t>
            </a:r>
            <a:r>
              <a:rPr baseline="-25000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in  y per unit change in corresponding x parameter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everything else is held constant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Residual </a:t>
            </a:r>
            <a:endParaRPr/>
          </a:p>
          <a:p>
            <a:pPr indent="-1079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3670" y="4834207"/>
            <a:ext cx="2725311" cy="638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Matrix  formulation of the  Model</a:t>
            </a:r>
            <a:br>
              <a:rPr lang="en-IN"/>
            </a:b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425824" y="1690688"/>
            <a:ext cx="6324600" cy="364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y</a:t>
            </a:r>
            <a:r>
              <a:rPr baseline="-25000" lang="en-IN"/>
              <a:t>1</a:t>
            </a:r>
            <a:r>
              <a:rPr lang="en-IN"/>
              <a:t> = b</a:t>
            </a:r>
            <a:r>
              <a:rPr baseline="-25000" lang="en-IN"/>
              <a:t>0</a:t>
            </a:r>
            <a:r>
              <a:rPr lang="en-IN"/>
              <a:t> + b</a:t>
            </a:r>
            <a:r>
              <a:rPr baseline="-25000" lang="en-IN"/>
              <a:t>1</a:t>
            </a:r>
            <a:r>
              <a:rPr lang="en-IN"/>
              <a:t>x</a:t>
            </a:r>
            <a:r>
              <a:rPr baseline="-25000" lang="en-IN"/>
              <a:t>1,1</a:t>
            </a:r>
            <a:r>
              <a:rPr lang="en-IN"/>
              <a:t> +  b</a:t>
            </a:r>
            <a:r>
              <a:rPr baseline="-25000" lang="en-IN"/>
              <a:t>2</a:t>
            </a:r>
            <a:r>
              <a:rPr lang="en-IN"/>
              <a:t> x</a:t>
            </a:r>
            <a:r>
              <a:rPr baseline="-25000" lang="en-IN"/>
              <a:t>1,2</a:t>
            </a:r>
            <a:r>
              <a:rPr lang="en-IN"/>
              <a:t> + ….+b</a:t>
            </a:r>
            <a:r>
              <a:rPr baseline="-25000" lang="en-IN"/>
              <a:t>p-1</a:t>
            </a:r>
            <a:r>
              <a:rPr lang="en-IN"/>
              <a:t> x</a:t>
            </a:r>
            <a:r>
              <a:rPr baseline="-25000" lang="en-IN"/>
              <a:t>1,p-1</a:t>
            </a:r>
            <a:r>
              <a:rPr lang="en-IN"/>
              <a:t>+ є</a:t>
            </a:r>
            <a:r>
              <a:rPr baseline="-25000" lang="en-IN"/>
              <a:t>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y</a:t>
            </a:r>
            <a:r>
              <a:rPr baseline="-25000" lang="en-IN"/>
              <a:t>2</a:t>
            </a:r>
            <a:r>
              <a:rPr lang="en-IN"/>
              <a:t> = b</a:t>
            </a:r>
            <a:r>
              <a:rPr baseline="-25000" lang="en-IN"/>
              <a:t>0</a:t>
            </a:r>
            <a:r>
              <a:rPr lang="en-IN"/>
              <a:t> + b</a:t>
            </a:r>
            <a:r>
              <a:rPr baseline="-25000" lang="en-IN"/>
              <a:t>1</a:t>
            </a:r>
            <a:r>
              <a:rPr lang="en-IN"/>
              <a:t>x</a:t>
            </a:r>
            <a:r>
              <a:rPr baseline="-25000" lang="en-IN"/>
              <a:t>2,1</a:t>
            </a:r>
            <a:r>
              <a:rPr lang="en-IN"/>
              <a:t> +  b</a:t>
            </a:r>
            <a:r>
              <a:rPr baseline="-25000" lang="en-IN"/>
              <a:t>2</a:t>
            </a:r>
            <a:r>
              <a:rPr lang="en-IN"/>
              <a:t> x</a:t>
            </a:r>
            <a:r>
              <a:rPr baseline="-25000" lang="en-IN"/>
              <a:t>2,2</a:t>
            </a:r>
            <a:r>
              <a:rPr lang="en-IN"/>
              <a:t> + ….+b</a:t>
            </a:r>
            <a:r>
              <a:rPr baseline="-25000" lang="en-IN"/>
              <a:t>p-1</a:t>
            </a:r>
            <a:r>
              <a:rPr lang="en-IN"/>
              <a:t> x</a:t>
            </a:r>
            <a:r>
              <a:rPr baseline="-25000" lang="en-IN"/>
              <a:t>2,p-1</a:t>
            </a:r>
            <a:r>
              <a:rPr lang="en-IN"/>
              <a:t> + є</a:t>
            </a:r>
            <a:r>
              <a:rPr baseline="-25000" lang="en-IN"/>
              <a:t>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y</a:t>
            </a:r>
            <a:r>
              <a:rPr baseline="-25000" lang="en-IN"/>
              <a:t>3</a:t>
            </a:r>
            <a:r>
              <a:rPr lang="en-IN"/>
              <a:t> = b</a:t>
            </a:r>
            <a:r>
              <a:rPr baseline="-25000" lang="en-IN"/>
              <a:t>0</a:t>
            </a:r>
            <a:r>
              <a:rPr lang="en-IN"/>
              <a:t> + b</a:t>
            </a:r>
            <a:r>
              <a:rPr baseline="-25000" lang="en-IN"/>
              <a:t>1</a:t>
            </a:r>
            <a:r>
              <a:rPr lang="en-IN"/>
              <a:t>x</a:t>
            </a:r>
            <a:r>
              <a:rPr baseline="-25000" lang="en-IN"/>
              <a:t>3,1</a:t>
            </a:r>
            <a:r>
              <a:rPr lang="en-IN"/>
              <a:t> +  b</a:t>
            </a:r>
            <a:r>
              <a:rPr baseline="-25000" lang="en-IN"/>
              <a:t>2</a:t>
            </a:r>
            <a:r>
              <a:rPr lang="en-IN"/>
              <a:t> x</a:t>
            </a:r>
            <a:r>
              <a:rPr baseline="-25000" lang="en-IN"/>
              <a:t>3,2</a:t>
            </a:r>
            <a:r>
              <a:rPr lang="en-IN"/>
              <a:t> + ….+b</a:t>
            </a:r>
            <a:r>
              <a:rPr baseline="-25000" lang="en-IN"/>
              <a:t>p-1</a:t>
            </a:r>
            <a:r>
              <a:rPr lang="en-IN"/>
              <a:t> x</a:t>
            </a:r>
            <a:r>
              <a:rPr baseline="-25000" lang="en-IN"/>
              <a:t>3,p-1</a:t>
            </a:r>
            <a:r>
              <a:rPr lang="en-IN"/>
              <a:t> + є</a:t>
            </a:r>
            <a:r>
              <a:rPr baseline="-25000" lang="en-IN"/>
              <a:t>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aseline="-25000" lang="en-IN"/>
              <a:t>---------------------------------------------------------------------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y</a:t>
            </a:r>
            <a:r>
              <a:rPr baseline="-25000" lang="en-IN"/>
              <a:t>n</a:t>
            </a:r>
            <a:r>
              <a:rPr lang="en-IN"/>
              <a:t> = b</a:t>
            </a:r>
            <a:r>
              <a:rPr baseline="-25000" lang="en-IN"/>
              <a:t>0</a:t>
            </a:r>
            <a:r>
              <a:rPr lang="en-IN"/>
              <a:t> + b</a:t>
            </a:r>
            <a:r>
              <a:rPr baseline="-25000" lang="en-IN"/>
              <a:t>1</a:t>
            </a:r>
            <a:r>
              <a:rPr lang="en-IN"/>
              <a:t>x</a:t>
            </a:r>
            <a:r>
              <a:rPr baseline="-25000" lang="en-IN"/>
              <a:t>n,1</a:t>
            </a:r>
            <a:r>
              <a:rPr lang="en-IN"/>
              <a:t> +  b</a:t>
            </a:r>
            <a:r>
              <a:rPr baseline="-25000" lang="en-IN"/>
              <a:t>2</a:t>
            </a:r>
            <a:r>
              <a:rPr lang="en-IN"/>
              <a:t> x</a:t>
            </a:r>
            <a:r>
              <a:rPr baseline="-25000" lang="en-IN"/>
              <a:t>1,2</a:t>
            </a:r>
            <a:r>
              <a:rPr lang="en-IN"/>
              <a:t> + ….+b</a:t>
            </a:r>
            <a:r>
              <a:rPr baseline="-25000" lang="en-IN"/>
              <a:t>p-1</a:t>
            </a:r>
            <a:r>
              <a:rPr lang="en-IN"/>
              <a:t> x</a:t>
            </a:r>
            <a:r>
              <a:rPr baseline="-25000" lang="en-IN"/>
              <a:t>n,p-1</a:t>
            </a:r>
            <a:r>
              <a:rPr lang="en-IN"/>
              <a:t> + є</a:t>
            </a:r>
            <a:r>
              <a:rPr baseline="-25000" lang="en-IN"/>
              <a:t>4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7342094" y="1827310"/>
            <a:ext cx="454510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y = Xb  + є</a:t>
            </a:r>
            <a:endParaRPr sz="4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Closed form Solution </a:t>
            </a:r>
            <a:endParaRPr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Char char="•"/>
            </a:pPr>
            <a:r>
              <a:rPr lang="en-IN" sz="4000">
                <a:solidFill>
                  <a:srgbClr val="595959"/>
                </a:solidFill>
              </a:rPr>
              <a:t>   b = (X</a:t>
            </a:r>
            <a:r>
              <a:rPr baseline="30000" lang="en-IN" sz="4000">
                <a:solidFill>
                  <a:srgbClr val="595959"/>
                </a:solidFill>
              </a:rPr>
              <a:t>T</a:t>
            </a:r>
            <a:r>
              <a:rPr lang="en-IN" sz="4000">
                <a:solidFill>
                  <a:srgbClr val="595959"/>
                </a:solidFill>
              </a:rPr>
              <a:t>X)</a:t>
            </a:r>
            <a:r>
              <a:rPr baseline="30000" lang="en-IN" sz="4000">
                <a:solidFill>
                  <a:srgbClr val="595959"/>
                </a:solidFill>
              </a:rPr>
              <a:t>-1</a:t>
            </a:r>
            <a:r>
              <a:rPr lang="en-IN" sz="4000">
                <a:solidFill>
                  <a:srgbClr val="595959"/>
                </a:solidFill>
              </a:rPr>
              <a:t>X</a:t>
            </a:r>
            <a:r>
              <a:rPr baseline="30000" lang="en-IN" sz="4000">
                <a:solidFill>
                  <a:srgbClr val="595959"/>
                </a:solidFill>
              </a:rPr>
              <a:t>T</a:t>
            </a:r>
            <a:r>
              <a:rPr lang="en-IN" sz="4000">
                <a:solidFill>
                  <a:srgbClr val="595959"/>
                </a:solidFill>
              </a:rPr>
              <a:t>Y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>
              <a:solidFill>
                <a:srgbClr val="595959"/>
              </a:solidFill>
            </a:endParaRPr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4000"/>
              <a:buChar char="•"/>
            </a:pPr>
            <a:r>
              <a:rPr lang="en-IN" sz="4000">
                <a:solidFill>
                  <a:srgbClr val="595959"/>
                </a:solidFill>
              </a:rPr>
              <a:t>      = X (X</a:t>
            </a:r>
            <a:r>
              <a:rPr baseline="30000" lang="en-IN" sz="4000">
                <a:solidFill>
                  <a:srgbClr val="595959"/>
                </a:solidFill>
              </a:rPr>
              <a:t>T</a:t>
            </a:r>
            <a:r>
              <a:rPr lang="en-IN" sz="4000">
                <a:solidFill>
                  <a:srgbClr val="595959"/>
                </a:solidFill>
              </a:rPr>
              <a:t>X)</a:t>
            </a:r>
            <a:r>
              <a:rPr baseline="30000" lang="en-IN" sz="4000">
                <a:solidFill>
                  <a:srgbClr val="595959"/>
                </a:solidFill>
              </a:rPr>
              <a:t>-1</a:t>
            </a:r>
            <a:r>
              <a:rPr lang="en-IN" sz="4000">
                <a:solidFill>
                  <a:srgbClr val="595959"/>
                </a:solidFill>
              </a:rPr>
              <a:t>X</a:t>
            </a:r>
            <a:r>
              <a:rPr baseline="30000" lang="en-IN" sz="4000">
                <a:solidFill>
                  <a:srgbClr val="595959"/>
                </a:solidFill>
              </a:rPr>
              <a:t>T</a:t>
            </a:r>
            <a:r>
              <a:rPr lang="en-IN" sz="4000">
                <a:solidFill>
                  <a:srgbClr val="595959"/>
                </a:solidFill>
              </a:rPr>
              <a:t>Y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4000"/>
              <a:buChar char="•"/>
            </a:pPr>
            <a:r>
              <a:rPr lang="en-IN" sz="4000">
                <a:solidFill>
                  <a:srgbClr val="595959"/>
                </a:solidFill>
              </a:rPr>
              <a:t> H = X (X</a:t>
            </a:r>
            <a:r>
              <a:rPr baseline="30000" lang="en-IN" sz="4000">
                <a:solidFill>
                  <a:srgbClr val="595959"/>
                </a:solidFill>
              </a:rPr>
              <a:t>T</a:t>
            </a:r>
            <a:r>
              <a:rPr lang="en-IN" sz="4000">
                <a:solidFill>
                  <a:srgbClr val="595959"/>
                </a:solidFill>
              </a:rPr>
              <a:t>X)</a:t>
            </a:r>
            <a:r>
              <a:rPr baseline="30000" lang="en-IN" sz="4000">
                <a:solidFill>
                  <a:srgbClr val="595959"/>
                </a:solidFill>
              </a:rPr>
              <a:t>-1</a:t>
            </a:r>
            <a:r>
              <a:rPr lang="en-IN" sz="4000">
                <a:solidFill>
                  <a:srgbClr val="595959"/>
                </a:solidFill>
              </a:rPr>
              <a:t>X</a:t>
            </a:r>
            <a:r>
              <a:rPr baseline="30000" lang="en-IN" sz="4000">
                <a:solidFill>
                  <a:srgbClr val="595959"/>
                </a:solidFill>
              </a:rPr>
              <a:t>T</a:t>
            </a:r>
            <a:r>
              <a:rPr lang="en-IN" sz="4000">
                <a:solidFill>
                  <a:srgbClr val="595959"/>
                </a:solidFill>
              </a:rPr>
              <a:t> </a:t>
            </a:r>
            <a:endParaRPr/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4000"/>
              <a:buChar char="•"/>
            </a:pPr>
            <a:r>
              <a:rPr lang="en-IN" sz="4000">
                <a:solidFill>
                  <a:srgbClr val="595959"/>
                </a:solidFill>
              </a:rPr>
              <a:t> Hat matrix 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35" y="2753483"/>
            <a:ext cx="534411" cy="974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sz="6000"/>
              <a:t>Components of Result</a:t>
            </a:r>
            <a:endParaRPr/>
          </a:p>
        </p:txBody>
      </p:sp>
      <p:pic>
        <p:nvPicPr>
          <p:cNvPr id="127" name="Google Shape;12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6129" y="1626086"/>
            <a:ext cx="6073814" cy="931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 txBox="1"/>
          <p:nvPr/>
        </p:nvSpPr>
        <p:spPr>
          <a:xfrm>
            <a:off x="945776" y="1690688"/>
            <a:ext cx="10134600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Arial"/>
              <a:buChar char="•"/>
            </a:pPr>
            <a:r>
              <a:rPr lang="en-IN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Adjusted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Arial"/>
              <a:buChar char="•"/>
            </a:pPr>
            <a:r>
              <a:rPr lang="en-IN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Pvalue of R</a:t>
            </a:r>
            <a:r>
              <a:rPr baseline="30000" lang="en-IN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5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0"/>
              <a:buFont typeface="Arial"/>
              <a:buChar char="•"/>
            </a:pPr>
            <a:r>
              <a:rPr baseline="30000" lang="en-IN" sz="7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MSE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0"/>
              <a:buFont typeface="Arial"/>
              <a:buChar char="•"/>
            </a:pPr>
            <a:r>
              <a:rPr baseline="30000" lang="en-IN" sz="7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Pvalue of the coefficients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0"/>
              <a:buFont typeface="Arial"/>
              <a:buChar char="•"/>
            </a:pPr>
            <a:r>
              <a:rPr baseline="30000" lang="en-IN" sz="7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VIF of the parameters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0"/>
              <a:buFont typeface="Arial"/>
              <a:buChar char="•"/>
            </a:pPr>
            <a:r>
              <a:rPr baseline="30000" lang="en-IN" sz="7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Residual Analysis – LINE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Risk - 1</a:t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510988" y="1368425"/>
            <a:ext cx="10842812" cy="5247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IN" sz="4000"/>
              <a:t>Multi-collinearity: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If the p-1 features are not linearly independent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 Rank of X &lt;  p-1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Rank  of X</a:t>
            </a:r>
            <a:r>
              <a:rPr baseline="30000" lang="en-IN" sz="2800"/>
              <a:t>T</a:t>
            </a:r>
            <a:r>
              <a:rPr lang="en-IN" sz="2800"/>
              <a:t>*X &lt; p-1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Inverse of X</a:t>
            </a:r>
            <a:r>
              <a:rPr baseline="30000" lang="en-IN" sz="2800"/>
              <a:t>T</a:t>
            </a:r>
            <a:r>
              <a:rPr lang="en-IN" sz="2800"/>
              <a:t>*X  does not exist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No fixed Solution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/>
              <a:t>Messed up interpretation of b</a:t>
            </a:r>
            <a:r>
              <a:rPr baseline="-25000" lang="en-IN" sz="2800"/>
              <a:t>j</a:t>
            </a:r>
            <a:r>
              <a:rPr lang="en-IN" sz="2800"/>
              <a:t>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/>
              <a:t>Change in  y per unit change in corresponding x parameter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IN" sz="2800" strike="sngStrike">
                <a:solidFill>
                  <a:srgbClr val="FF0000"/>
                </a:solidFill>
                <a:highlight>
                  <a:srgbClr val="FFFF00"/>
                </a:highlight>
              </a:rPr>
              <a:t>When everything else is held constant</a:t>
            </a:r>
            <a:endParaRPr sz="3200" strike="sngStrike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IN" sz="3600">
                <a:highlight>
                  <a:srgbClr val="FFFF00"/>
                </a:highlight>
              </a:rPr>
              <a:t>Inflated variance </a:t>
            </a:r>
            <a:endParaRPr/>
          </a:p>
          <a:p>
            <a:pPr indent="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Risk 2 :Outliers, leverage and influence</a:t>
            </a:r>
            <a:endParaRPr/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Outlier –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data point with  unusual y value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High Leverage point - 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data point with extreme X  value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High influence point –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data point with potential to significantly impact the fit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Outlier</a:t>
            </a:r>
            <a:endParaRPr/>
          </a:p>
        </p:txBody>
      </p:sp>
      <p:pic>
        <p:nvPicPr>
          <p:cNvPr id="146" name="Google Shape;146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187" y="1825625"/>
            <a:ext cx="657562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High Leverage</a:t>
            </a:r>
            <a:endParaRPr/>
          </a:p>
        </p:txBody>
      </p:sp>
      <p:pic>
        <p:nvPicPr>
          <p:cNvPr id="152" name="Google Shape;152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7198" y="1825625"/>
            <a:ext cx="6457603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Influential point </a:t>
            </a:r>
            <a:endParaRPr/>
          </a:p>
        </p:txBody>
      </p:sp>
      <p:pic>
        <p:nvPicPr>
          <p:cNvPr id="158" name="Google Shape;158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6333" y="1825625"/>
            <a:ext cx="6539334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Leverage</a:t>
            </a:r>
            <a:endParaRPr/>
          </a:p>
        </p:txBody>
      </p:sp>
      <p:pic>
        <p:nvPicPr>
          <p:cNvPr id="164" name="Google Shape;164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752" y="1899712"/>
            <a:ext cx="2636748" cy="419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752" y="2646105"/>
            <a:ext cx="2956816" cy="579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3434843"/>
            <a:ext cx="2895851" cy="419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2905" y="1540581"/>
            <a:ext cx="1470787" cy="464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7460" y="2005441"/>
            <a:ext cx="4892464" cy="221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/>
        </p:nvSpPr>
        <p:spPr>
          <a:xfrm>
            <a:off x="578224" y="4646264"/>
            <a:ext cx="998601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aseline="-25000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:</a:t>
            </a:r>
            <a:r>
              <a:rPr b="1" i="0" lang="en-IN" sz="2400">
                <a:solidFill>
                  <a:srgbClr val="3B444F"/>
                </a:solidFill>
                <a:latin typeface="Arial"/>
                <a:ea typeface="Arial"/>
                <a:cs typeface="Arial"/>
                <a:sym typeface="Arial"/>
              </a:rPr>
              <a:t>leverage</a:t>
            </a:r>
            <a:r>
              <a:rPr b="0" i="0" lang="en-IN" sz="2400">
                <a:solidFill>
                  <a:srgbClr val="3B444F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44F"/>
              </a:buClr>
              <a:buSzPts val="2400"/>
              <a:buFont typeface="Arial"/>
              <a:buChar char="•"/>
            </a:pPr>
            <a:r>
              <a:rPr b="0" i="0" lang="en-IN" sz="2400">
                <a:solidFill>
                  <a:srgbClr val="3B444F"/>
                </a:solidFill>
                <a:latin typeface="Arial"/>
                <a:ea typeface="Arial"/>
                <a:cs typeface="Arial"/>
                <a:sym typeface="Arial"/>
              </a:rPr>
              <a:t>Proportional to the influence </a:t>
            </a:r>
            <a:r>
              <a:rPr lang="en-IN" sz="2400">
                <a:solidFill>
                  <a:srgbClr val="3B444F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IN" sz="2400">
                <a:solidFill>
                  <a:srgbClr val="3B444F"/>
                </a:solidFill>
                <a:latin typeface="Arial"/>
                <a:ea typeface="Arial"/>
                <a:cs typeface="Arial"/>
                <a:sym typeface="Arial"/>
              </a:rPr>
              <a:t> response </a:t>
            </a:r>
            <a:r>
              <a:rPr i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i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1" lang="en-IN" sz="2400">
                <a:solidFill>
                  <a:srgbClr val="3B444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IN" sz="2400">
                <a:solidFill>
                  <a:srgbClr val="3B444F"/>
                </a:solidFill>
                <a:latin typeface="Arial"/>
                <a:ea typeface="Arial"/>
                <a:cs typeface="Arial"/>
                <a:sym typeface="Arial"/>
              </a:rPr>
              <a:t> on its predicted value 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63630" y="5015338"/>
            <a:ext cx="281964" cy="38103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 txBox="1"/>
          <p:nvPr/>
        </p:nvSpPr>
        <p:spPr>
          <a:xfrm>
            <a:off x="967752" y="4223053"/>
            <a:ext cx="2398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X’ = X</a:t>
            </a:r>
            <a:r>
              <a:rPr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Properties of leverage</a:t>
            </a:r>
            <a:endParaRPr/>
          </a:p>
        </p:txBody>
      </p:sp>
      <p:pic>
        <p:nvPicPr>
          <p:cNvPr id="177" name="Google Shape;17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0225" y="2530506"/>
            <a:ext cx="9571549" cy="294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Risk 3 – underspecified or over-specified</a:t>
            </a:r>
            <a:endParaRPr/>
          </a:p>
        </p:txBody>
      </p:sp>
      <p:sp>
        <p:nvSpPr>
          <p:cNvPr id="183" name="Google Shape;18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How many parameters  among p-1 to keep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And which ones to keep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Underfitting or underspecified system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If too many parameters  are dropped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Overfitting  or curse of dimensionality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If  too many parameters are kept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Algorithms  for parameter selection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Stepwise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Subset selection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Neutralizing Multicollinearity </a:t>
            </a:r>
            <a:endParaRPr/>
          </a:p>
        </p:txBody>
      </p:sp>
      <p:sp>
        <p:nvSpPr>
          <p:cNvPr id="189" name="Google Shape;18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Step 1 : How to Detect?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Neutralizing Multicollinearity </a:t>
            </a:r>
            <a:endParaRPr/>
          </a:p>
        </p:txBody>
      </p:sp>
      <p:sp>
        <p:nvSpPr>
          <p:cNvPr id="195" name="Google Shape;195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Step 1 : How to Detect?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Step 2 : for k in range( 1:p-1):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Fit a linear Regression  of b</a:t>
            </a:r>
            <a:r>
              <a:rPr baseline="-25000" lang="en-IN"/>
              <a:t>k</a:t>
            </a:r>
            <a:r>
              <a:rPr lang="en-IN"/>
              <a:t> against  remaining p-1 features /parameters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Then?</a:t>
            </a:r>
            <a:endParaRPr/>
          </a:p>
          <a:p>
            <a:pPr indent="-1143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4" marL="2057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Neutralizing Multicollinearity </a:t>
            </a:r>
            <a:endParaRPr/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Step 1 : How to Detect?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Step 2 : for k in range( 1:p-1):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Fit a linear Regression  of b</a:t>
            </a:r>
            <a:r>
              <a:rPr baseline="-25000" lang="en-IN"/>
              <a:t>k</a:t>
            </a:r>
            <a:r>
              <a:rPr lang="en-IN"/>
              <a:t> against  remaining p-1 features /parameters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Compute R</a:t>
            </a:r>
            <a:r>
              <a:rPr baseline="-25000" lang="en-IN"/>
              <a:t>k</a:t>
            </a:r>
            <a:r>
              <a:rPr baseline="30000" lang="en-IN"/>
              <a:t>2 </a:t>
            </a:r>
            <a:r>
              <a:rPr lang="en-IN"/>
              <a:t> - coefficient of determination for this fit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How to convert this R</a:t>
            </a:r>
            <a:r>
              <a:rPr baseline="-25000" lang="en-IN"/>
              <a:t>k</a:t>
            </a:r>
            <a:r>
              <a:rPr lang="en-IN"/>
              <a:t> </a:t>
            </a:r>
            <a:r>
              <a:rPr baseline="30000" lang="en-IN"/>
              <a:t>2</a:t>
            </a:r>
            <a:r>
              <a:rPr lang="en-IN"/>
              <a:t> into a metric of collinearity </a:t>
            </a:r>
            <a:endParaRPr/>
          </a:p>
          <a:p>
            <a:pPr indent="-1143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4" marL="2057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Neutralizing Multicollinearity </a:t>
            </a:r>
            <a:endParaRPr/>
          </a:p>
        </p:txBody>
      </p:sp>
      <p:sp>
        <p:nvSpPr>
          <p:cNvPr id="207" name="Google Shape;20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Step 1 : How to Detect?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Step 2 : for k in range( 1:p-1):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Fit a linear Regression  of b</a:t>
            </a:r>
            <a:r>
              <a:rPr baseline="-25000" lang="en-IN"/>
              <a:t>k</a:t>
            </a:r>
            <a:r>
              <a:rPr lang="en-IN"/>
              <a:t> against  remaining p-1 features /parameters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Compute R</a:t>
            </a:r>
            <a:r>
              <a:rPr baseline="-25000" lang="en-IN"/>
              <a:t>k</a:t>
            </a:r>
            <a:r>
              <a:rPr baseline="30000" lang="en-IN"/>
              <a:t>2 </a:t>
            </a:r>
            <a:r>
              <a:rPr lang="en-IN"/>
              <a:t> - coefficient of determination for this fit</a:t>
            </a:r>
            <a:endParaRPr/>
          </a:p>
          <a:p>
            <a:pPr indent="-1143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4" marL="2057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6562" y="3588640"/>
            <a:ext cx="3330229" cy="1295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Neutralizing Multicollinearity </a:t>
            </a:r>
            <a:endParaRPr/>
          </a:p>
        </p:txBody>
      </p:sp>
      <p:sp>
        <p:nvSpPr>
          <p:cNvPr id="214" name="Google Shape;214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Step 1 : How to Detect?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Step 2 : for k in range( 1:p-1):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Fit a linear Regression  of b</a:t>
            </a:r>
            <a:r>
              <a:rPr baseline="-25000" lang="en-IN"/>
              <a:t>k</a:t>
            </a:r>
            <a:r>
              <a:rPr lang="en-IN"/>
              <a:t> against  remaining p-1 features /parameters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Compute R</a:t>
            </a:r>
            <a:r>
              <a:rPr baseline="-25000" lang="en-IN"/>
              <a:t>k</a:t>
            </a:r>
            <a:r>
              <a:rPr baseline="30000" lang="en-IN"/>
              <a:t>2 </a:t>
            </a:r>
            <a:r>
              <a:rPr lang="en-IN"/>
              <a:t> - coefficient of determination for this fit</a:t>
            </a:r>
            <a:endParaRPr/>
          </a:p>
          <a:p>
            <a:pPr indent="-122872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22872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22872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22872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22872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 Step 3 - Rules of Thumb</a:t>
            </a:r>
            <a:endParaRPr/>
          </a:p>
          <a:p>
            <a:pPr indent="-228600" lvl="4" marL="2057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444F"/>
              </a:buClr>
              <a:buSzPct val="100000"/>
              <a:buChar char="•"/>
            </a:pPr>
            <a:r>
              <a:rPr b="0" i="0"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VIF = 1 : no correlation between the </a:t>
            </a:r>
            <a:r>
              <a:rPr lang="en-IN"/>
              <a:t>kth</a:t>
            </a:r>
            <a:r>
              <a:rPr b="0" i="0"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 predictor and the remaining predictor variables. </a:t>
            </a:r>
            <a:r>
              <a:rPr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Keep the feature</a:t>
            </a:r>
            <a:endParaRPr/>
          </a:p>
          <a:p>
            <a:pPr indent="-228600" lvl="4" marL="2057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444F"/>
              </a:buClr>
              <a:buSzPct val="100000"/>
              <a:buChar char="•"/>
            </a:pPr>
            <a:r>
              <a:rPr b="0" i="0"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VIFs &gt; 4 further warrant investigation .  cross –validation to determine if variable can be retaind</a:t>
            </a:r>
            <a:endParaRPr b="0" i="0">
              <a:solidFill>
                <a:srgbClr val="3B444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4" marL="2057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444F"/>
              </a:buClr>
              <a:buSzPct val="100000"/>
              <a:buChar char="•"/>
            </a:pPr>
            <a:r>
              <a:rPr b="0" i="0"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VIFs &gt; 10 are signs of serious multicollinearity requiring correction.</a:t>
            </a:r>
            <a:endParaRPr/>
          </a:p>
          <a:p>
            <a:pPr indent="-122872" lvl="4" marL="2057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9600" y="3042253"/>
            <a:ext cx="3330229" cy="1295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Neutralising outliers </a:t>
            </a:r>
            <a:endParaRPr/>
          </a:p>
        </p:txBody>
      </p:sp>
      <p:sp>
        <p:nvSpPr>
          <p:cNvPr id="221" name="Google Shape;22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Point to Flag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High leverage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 Outlier in y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444F"/>
              </a:buClr>
              <a:buSzPts val="2000"/>
              <a:buChar char="•"/>
            </a:pPr>
            <a:r>
              <a:rPr b="0" i="0"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Abs (internally studentized residuals) r</a:t>
            </a:r>
            <a:r>
              <a:rPr b="0" baseline="-25000" i="0"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b="0" i="0"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  &gt; 3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solidFill>
                <a:srgbClr val="3B444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444F"/>
              </a:buClr>
              <a:buSzPts val="2400"/>
              <a:buChar char="•"/>
            </a:pPr>
            <a:r>
              <a:rPr b="0" i="0"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  Influential points?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444F"/>
              </a:buClr>
              <a:buSzPts val="2000"/>
              <a:buChar char="•"/>
            </a:pPr>
            <a:r>
              <a:rPr lang="en-IN">
                <a:solidFill>
                  <a:srgbClr val="3B444F"/>
                </a:solidFill>
                <a:latin typeface="Open Sans"/>
                <a:ea typeface="Open Sans"/>
                <a:cs typeface="Open Sans"/>
                <a:sym typeface="Open Sans"/>
              </a:rPr>
              <a:t>Difference in fits and Cook’s distance</a:t>
            </a:r>
            <a:endParaRPr/>
          </a:p>
        </p:txBody>
      </p:sp>
      <p:pic>
        <p:nvPicPr>
          <p:cNvPr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5073" y="1840216"/>
            <a:ext cx="2370025" cy="1127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4621" y="3200287"/>
            <a:ext cx="2682472" cy="104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8245" y="3384021"/>
            <a:ext cx="876376" cy="617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Influential point</a:t>
            </a:r>
            <a:endParaRPr/>
          </a:p>
        </p:txBody>
      </p:sp>
      <p:sp>
        <p:nvSpPr>
          <p:cNvPr id="230" name="Google Shape;230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i</a:t>
            </a:r>
            <a:r>
              <a:rPr baseline="30000" lang="en-IN"/>
              <a:t>th</a:t>
            </a:r>
            <a:r>
              <a:rPr lang="en-IN"/>
              <a:t> data point is influential if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Substantially different coefficients when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Line is regressed including the point Vs when the line is regressed by excluding the point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Line fit by excluding a point is called deleted-fit for that point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 the predicted value  of y</a:t>
            </a:r>
            <a:r>
              <a:rPr baseline="-25000" lang="en-IN"/>
              <a:t>i   </a:t>
            </a:r>
            <a:r>
              <a:rPr lang="en-IN"/>
              <a:t>wil be vastly different in above scenarios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The predicted value  when line is fit by keeping i</a:t>
            </a:r>
            <a:r>
              <a:rPr baseline="30000" lang="en-IN"/>
              <a:t>th</a:t>
            </a:r>
            <a:r>
              <a:rPr lang="en-IN"/>
              <a:t> data point :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The predicted value  when line is fit by deleting  i</a:t>
            </a:r>
            <a:r>
              <a:rPr baseline="30000" lang="en-IN"/>
              <a:t>th</a:t>
            </a:r>
            <a:r>
              <a:rPr lang="en-IN"/>
              <a:t> data point :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1409" y="4348264"/>
            <a:ext cx="396274" cy="434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8581" y="4987866"/>
            <a:ext cx="518205" cy="472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Metrics - DEFIT</a:t>
            </a:r>
            <a:endParaRPr/>
          </a:p>
        </p:txBody>
      </p:sp>
      <p:sp>
        <p:nvSpPr>
          <p:cNvPr id="238" name="Google Shape;238;p23"/>
          <p:cNvSpPr txBox="1"/>
          <p:nvPr>
            <p:ph idx="1" type="body"/>
          </p:nvPr>
        </p:nvSpPr>
        <p:spPr>
          <a:xfrm>
            <a:off x="818744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Difference in fits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Flag the point if     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6491" y="2148729"/>
            <a:ext cx="4359018" cy="1280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6351" y="4980562"/>
            <a:ext cx="1828958" cy="981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4404" y="5115744"/>
            <a:ext cx="1539373" cy="71633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5311302" y="5351982"/>
            <a:ext cx="415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Cook’s Distance</a:t>
            </a:r>
            <a:endParaRPr/>
          </a:p>
        </p:txBody>
      </p:sp>
      <p:pic>
        <p:nvPicPr>
          <p:cNvPr id="248" name="Google Shape;248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8896" y="1690688"/>
            <a:ext cx="4854361" cy="138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068" y="3168656"/>
            <a:ext cx="9868755" cy="2972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MLR Steps</a:t>
            </a:r>
            <a:endParaRPr/>
          </a:p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Test-train split 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Normalise the features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Fit the first linear regression model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Observe adjusted R</a:t>
            </a:r>
            <a:r>
              <a:rPr baseline="30000" lang="en-IN"/>
              <a:t>2  </a:t>
            </a:r>
            <a:r>
              <a:rPr lang="en-IN"/>
              <a:t>for MLR and R</a:t>
            </a:r>
            <a:r>
              <a:rPr baseline="30000" lang="en-IN"/>
              <a:t>2 </a:t>
            </a:r>
            <a:r>
              <a:rPr lang="en-IN"/>
              <a:t> for SLR )and  p-value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For each feature, check  the pvalue of the coefficient and  VIF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Drop feature with VIF&gt;10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Use cross validation to decide if feature can be dropped in case p value is greater than 0.05 and or VIF is greater than 4 and less than 10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Check Cook’s Distance and DEFITs distributions. If any points  have unusual value for either of these , check if dropping those points help in improving line fit. (use cross validation)</a:t>
            </a:r>
            <a:endParaRPr/>
          </a:p>
          <a:p>
            <a:pPr indent="-185737" lvl="0" marL="228600" rtl="0" algn="l"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lang="en-IN" sz="15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IN" sz="1500"/>
              <a:t>Fit the line and check coefficient p-values  and magnitude .  </a:t>
            </a:r>
            <a:endParaRPr sz="1500"/>
          </a:p>
          <a:p>
            <a:pPr indent="-185737" lvl="1" marL="685800" rtl="0" algn="l">
              <a:spcBef>
                <a:spcPts val="0"/>
              </a:spcBef>
              <a:spcAft>
                <a:spcPts val="0"/>
              </a:spcAft>
              <a:buSzPct val="138461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IN" sz="1300"/>
              <a:t>Identify all features with pvalue greater than 0.05 and sort in descending order of pvalue</a:t>
            </a:r>
            <a:endParaRPr sz="1300"/>
          </a:p>
          <a:p>
            <a:pPr indent="-185737" lvl="1" marL="685800" rtl="0" algn="l">
              <a:spcBef>
                <a:spcPts val="0"/>
              </a:spcBef>
              <a:spcAft>
                <a:spcPts val="0"/>
              </a:spcAft>
              <a:buSzPct val="138461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IN" sz="1300"/>
              <a:t>From the above list drop features one by one and fit line  until you don’t observe any drop in adjusted R</a:t>
            </a:r>
            <a:r>
              <a:rPr baseline="30000" lang="en-IN" sz="2200"/>
              <a:t>2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Check line conditions 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Use residual analysis to  identify if any non-linear transformations of X or y is required. 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Fit the line again. 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Report accuracy on test data set.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Practice Questions</a:t>
            </a:r>
            <a:endParaRPr/>
          </a:p>
        </p:txBody>
      </p:sp>
      <p:sp>
        <p:nvSpPr>
          <p:cNvPr id="261" name="Google Shape;26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Analyse how quality of fit is  assessed in multiple linear regression.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Analyse issues caused by multicollinearity in multiple linear regression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Describe the process to deal with multicollinearity in linear regression.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Explain how impact of outliers is measured and how they are tackled.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What is the method to reduce the number of input features in multiple linear regression. 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2025-02-18T05:37:09Z</dcterms:created>
  <dc:creator>Shailesh Patil</dc:creator>
</cp:coreProperties>
</file>