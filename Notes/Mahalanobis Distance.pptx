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8F16-38B1-F3C3-79DE-0D3DF2373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4D89D-06D0-731F-D49F-C35931868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7A3C-6968-E9D5-F4DF-01F5F215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31C84-E126-A87A-CF9A-86CD94F9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C5F80-A9DF-32AD-B14D-D554AD54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0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FD4E-B97C-3E51-383A-C4F3A84E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AA51-F2EE-A68B-B7F0-781E06C8B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7D6F2-27C3-BA1D-CD59-B8369F75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0855E-5D58-0ADC-D8DB-287D92C2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76144-7C0F-2B4E-18E7-B17A01CC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94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38E3-4382-2B51-C563-172F179B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2938-6692-EDCD-4A17-4E550D4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9DB76-B668-A300-079F-16DBA5E1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795C-4A11-9EAE-C498-F2EBB343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539A2-C4A2-42C1-621E-B4F554FF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38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4A10-4165-C9DF-8D09-CF3DB083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1A3A-B0CD-ADC0-048E-983D03D1B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E8C32-0B09-9376-0234-CA9D14838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7672A-801E-3474-62C8-AE4D450C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DDAA0-B55E-D495-7300-121BFF8F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0E54B-46F2-47F6-6553-33222CBF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7AAF-48B1-289E-91EA-C0137F94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108BF-004C-18C0-A71F-613F489F0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2D154-08D6-BF98-D820-B2C8DD495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F0F8A-41A4-5682-7321-463A8B1DC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FF799-249E-6C6B-27F4-32C544166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0A0FC-FE15-2637-E7E2-23972D21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D7CCF-6138-BBCF-AA81-2DBE0E03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598B2-588C-EE5B-338F-3DAD8A14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40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88F3-3B3A-E344-0C48-9C5EC0C12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49EDF-09E5-4D6E-34D0-D7BBA9AC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0545C-5D05-FFBB-6255-8C0D6CA5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A2667-4001-AFFF-6032-596C86A9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15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FA482C-7D29-BBA7-0567-518EF7E8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8AB13-4DEA-9BAA-CB11-E8F376BA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6B38F-8E30-A048-7BA4-B0A87B2D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05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B5F1-0B61-7B32-D265-7FE2E3BD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6EF39-EB1D-131A-39B2-BE8334643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BF3C1-6A84-0F5A-CFEF-FEAC11E36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5D03-6663-BC01-D675-BDAFB230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20876-880F-23FB-5365-F97C89D2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D6889-2919-D366-07C8-6D73CBB5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52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580D-3107-FCA5-C3A7-362FE519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7894A-D124-9ED5-E80A-3F57DF4EE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A8CA0-77CA-175F-099A-1862ECD4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8AF89-9CC4-A147-3CC1-FC783A52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A53C4-3F4A-D3C6-1AA0-6930C4F4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67AF-9C33-B92A-39CA-DD147963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11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2139-BB07-2C5D-E649-E69F73BE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5B8C5-8762-89F0-4B43-D5BEDB228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AD3BD-C00E-B36B-9672-93CBF9C2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0032A-6F57-D3F1-1705-9B34392D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31759-9648-8FDF-AB22-475CD7215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18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271FD-46E2-86D1-595A-E583DF1C6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AA1FC-C55D-DD54-F0B9-E727DB9FA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A93E3-135F-F016-F671-05A1784F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FEFF-BA8C-6B5A-9D77-86A8531F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1940-139F-FF18-F779-77EA1D7E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3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0DEBF-58D0-D583-CE3E-C2D877A6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05A7F-9B17-5586-8B8C-6DDB3009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F736-9642-A1F6-C143-7454D9EC2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25318-5024-4F2E-A39D-71B2DDE543AC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52A8-5E4A-E870-6131-71E2B672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8BC2-EFF4-BB57-652B-6BB6A88A4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5BC0E-447C-46ED-803D-CB603EF34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8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DCDE-A158-0D6A-0269-C169A7828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b="0" i="0" dirty="0" err="1">
                <a:effectLst/>
                <a:latin typeface="Linux Libertine"/>
              </a:rPr>
              <a:t>Mahalanobis</a:t>
            </a:r>
            <a:r>
              <a:rPr lang="en-IN" b="0" i="0" dirty="0">
                <a:effectLst/>
                <a:latin typeface="Linux Libertine"/>
              </a:rPr>
              <a:t> Distance</a:t>
            </a:r>
          </a:p>
        </p:txBody>
      </p:sp>
    </p:spTree>
    <p:extLst>
      <p:ext uri="{BB962C8B-B14F-4D97-AF65-F5344CB8AC3E}">
        <p14:creationId xmlns:p14="http://schemas.microsoft.com/office/powerpoint/2010/main" val="278228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B501-C34B-94F8-018E-20B66709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 Distances in Multivariate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455D7-A9F2-299F-3A85-3BA5EB4E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Challenges in measuring Distances in Multivariate world</a:t>
            </a:r>
          </a:p>
          <a:p>
            <a:pPr lvl="1"/>
            <a:r>
              <a:rPr lang="en-IN" dirty="0"/>
              <a:t>Each dimension may have different variance</a:t>
            </a:r>
          </a:p>
          <a:p>
            <a:pPr lvl="2"/>
            <a:r>
              <a:rPr lang="en-IN" dirty="0"/>
              <a:t>Dimensions  with larger spread will dominate the distance</a:t>
            </a:r>
          </a:p>
          <a:p>
            <a:pPr lvl="2"/>
            <a:r>
              <a:rPr lang="en-IN" dirty="0"/>
              <a:t>Unfair to dimension with smaller spread </a:t>
            </a:r>
          </a:p>
          <a:p>
            <a:pPr lvl="2"/>
            <a:r>
              <a:rPr lang="en-IN" dirty="0"/>
              <a:t>Features need to be scaled  to have unit standard deviation</a:t>
            </a:r>
          </a:p>
          <a:p>
            <a:pPr lvl="1"/>
            <a:r>
              <a:rPr lang="en-IN" dirty="0"/>
              <a:t>Impact of Correlation among dimensions</a:t>
            </a:r>
          </a:p>
          <a:p>
            <a:pPr lvl="2"/>
            <a:r>
              <a:rPr lang="en-IN" dirty="0"/>
              <a:t>Imagine set up with N features</a:t>
            </a:r>
          </a:p>
          <a:p>
            <a:pPr lvl="2"/>
            <a:r>
              <a:rPr lang="en-IN" dirty="0"/>
              <a:t>If multiple features have non-zero correlation </a:t>
            </a:r>
          </a:p>
          <a:p>
            <a:pPr lvl="3"/>
            <a:r>
              <a:rPr lang="en-IN" dirty="0"/>
              <a:t>They  don’t add value worth N features. 	</a:t>
            </a:r>
          </a:p>
          <a:p>
            <a:pPr lvl="3"/>
            <a:r>
              <a:rPr lang="en-IN" dirty="0"/>
              <a:t>Pairs of such features need to be penalised </a:t>
            </a:r>
          </a:p>
          <a:p>
            <a:pPr lvl="3"/>
            <a:r>
              <a:rPr lang="en-IN" dirty="0"/>
              <a:t>Penalty proportional to  the covariance </a:t>
            </a:r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15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DD66-B7E9-FA49-A941-529458AB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Covariance Matrix 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08A7-D374-BC09-82F1-A3747CC6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Captures artifacts of the data</a:t>
            </a:r>
          </a:p>
          <a:p>
            <a:pPr lvl="1"/>
            <a:r>
              <a:rPr lang="en-IN" dirty="0"/>
              <a:t>variances along the diagonal elements </a:t>
            </a:r>
          </a:p>
          <a:p>
            <a:pPr lvl="1"/>
            <a:r>
              <a:rPr lang="en-IN" dirty="0"/>
              <a:t>Covariance along Non diagonal elements </a:t>
            </a:r>
          </a:p>
          <a:p>
            <a:pPr lvl="1"/>
            <a:endParaRPr lang="en-IN" dirty="0"/>
          </a:p>
          <a:p>
            <a:endParaRPr lang="en-IN" dirty="0"/>
          </a:p>
          <a:p>
            <a:r>
              <a:rPr lang="en-IN" dirty="0"/>
              <a:t>Inverse of the covariance matrix </a:t>
            </a:r>
          </a:p>
          <a:p>
            <a:pPr lvl="1"/>
            <a:r>
              <a:rPr lang="en-IN" dirty="0"/>
              <a:t>Apply this matrix in distance calculation</a:t>
            </a:r>
          </a:p>
          <a:p>
            <a:pPr lvl="1"/>
            <a:r>
              <a:rPr lang="en-IN" dirty="0"/>
              <a:t>It appropriately calibrates the  importance of features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63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539B-3BEB-29BC-2C31-844615F7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Mahalanobis</a:t>
            </a:r>
            <a:r>
              <a:rPr lang="en-IN" dirty="0"/>
              <a:t> Distance</a:t>
            </a:r>
          </a:p>
        </p:txBody>
      </p:sp>
      <p:sp>
        <p:nvSpPr>
          <p:cNvPr id="12" name="AutoShape 6" descr="{\displaystyle {\vec {x}}}">
            <a:extLst>
              <a:ext uri="{FF2B5EF4-FFF2-40B4-BE49-F238E27FC236}">
                <a16:creationId xmlns:a16="http://schemas.microsoft.com/office/drawing/2014/main" id="{EF0BE7E6-33A3-A62E-78C6-2A80AEE28C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86256" y="188604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7" descr="{\displaystyle {\vec {y}}}">
            <a:extLst>
              <a:ext uri="{FF2B5EF4-FFF2-40B4-BE49-F238E27FC236}">
                <a16:creationId xmlns:a16="http://schemas.microsoft.com/office/drawing/2014/main" id="{AB43C283-84AD-68C3-CDFB-3DCA606FE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493" y="188604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8" descr="{\displaystyle \mathbb {R} ^{N}}">
            <a:extLst>
              <a:ext uri="{FF2B5EF4-FFF2-40B4-BE49-F238E27FC236}">
                <a16:creationId xmlns:a16="http://schemas.microsoft.com/office/drawing/2014/main" id="{10DC0AD4-DCB9-6513-EB3A-5CA1DFCB4F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65793" y="188604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2C2C7C59-6375-E243-58A2-743AC08A8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Given two data point u and v in R</a:t>
                </a:r>
                <a:r>
                  <a:rPr lang="en-IN" baseline="30000" dirty="0"/>
                  <a:t>n</a:t>
                </a:r>
              </a:p>
              <a:p>
                <a:pPr lvl="1"/>
                <a:r>
                  <a:rPr lang="en-IN" dirty="0" err="1"/>
                  <a:t>Mahalanobis</a:t>
                </a:r>
                <a:r>
                  <a:rPr lang="en-IN" dirty="0"/>
                  <a:t> Distance between them </a:t>
                </a:r>
              </a:p>
              <a:p>
                <a:pPr lvl="1"/>
                <a:endParaRPr lang="en-IN" dirty="0"/>
              </a:p>
              <a:p>
                <a:pPr lvl="2"/>
                <a:r>
                  <a:rPr lang="en-IN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IN" i="1" baseline="30000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e>
                    </m:rad>
                  </m:oMath>
                </a14:m>
                <a:endParaRPr lang="en-IN" dirty="0"/>
              </a:p>
              <a:p>
                <a:pPr lvl="2"/>
                <a:endParaRPr lang="en-IN" dirty="0"/>
              </a:p>
              <a:p>
                <a:r>
                  <a:rPr lang="en-IN" dirty="0"/>
                  <a:t>Use cases</a:t>
                </a:r>
              </a:p>
              <a:p>
                <a:pPr lvl="1"/>
                <a:r>
                  <a:rPr lang="en-IN" dirty="0"/>
                  <a:t>Measure distance of point from a multivariate Distribution</a:t>
                </a:r>
              </a:p>
              <a:p>
                <a:pPr lvl="1"/>
                <a:r>
                  <a:rPr lang="en-IN" dirty="0"/>
                  <a:t>Multivariate outlier detection </a:t>
                </a:r>
              </a:p>
              <a:p>
                <a:pPr lvl="1"/>
                <a:r>
                  <a:rPr lang="en-IN" dirty="0"/>
                  <a:t>Can you think of more?</a:t>
                </a:r>
              </a:p>
              <a:p>
                <a:pPr lvl="2"/>
                <a:endParaRPr lang="en-IN" dirty="0"/>
              </a:p>
              <a:p>
                <a:pPr marL="914400" lvl="2" indent="0">
                  <a:buNone/>
                </a:pPr>
                <a:endParaRPr lang="en-IN" dirty="0"/>
              </a:p>
              <a:p>
                <a:pPr marL="914400" lvl="2" indent="0">
                  <a:buNone/>
                </a:pPr>
                <a:endParaRPr lang="en-IN" dirty="0"/>
              </a:p>
              <a:p>
                <a:pPr marL="914400" lvl="2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2C2C7C59-6375-E243-58A2-743AC08A8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66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CD20-61A5-4848-1419-221F7B3E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 with Euclidean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A7E052-A2F8-763D-4BF1-D2F128D36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 ∑</m:t>
                    </m:r>
                  </m:oMath>
                </a14:m>
                <a:r>
                  <a:rPr lang="en-IN" dirty="0"/>
                  <a:t> == Identity matrix</a:t>
                </a:r>
              </a:p>
              <a:p>
                <a:pPr lvl="1"/>
                <a:r>
                  <a:rPr lang="en-IN" dirty="0" err="1"/>
                  <a:t>Mahalanobis</a:t>
                </a:r>
                <a:r>
                  <a:rPr lang="en-IN" dirty="0"/>
                  <a:t> distance becomes Euclidean distance</a:t>
                </a:r>
              </a:p>
              <a:p>
                <a:r>
                  <a:rPr lang="en-IN" dirty="0"/>
                  <a:t>Implications</a:t>
                </a:r>
              </a:p>
              <a:p>
                <a:pPr lvl="1"/>
                <a:r>
                  <a:rPr lang="en-IN" dirty="0"/>
                  <a:t>Euclidean distance is special case of </a:t>
                </a:r>
                <a:r>
                  <a:rPr lang="en-IN" dirty="0" err="1"/>
                  <a:t>Mahalanobis</a:t>
                </a:r>
                <a:r>
                  <a:rPr lang="en-IN" dirty="0"/>
                  <a:t> Distance</a:t>
                </a:r>
              </a:p>
              <a:p>
                <a:pPr lvl="1"/>
                <a:r>
                  <a:rPr lang="en-IN" dirty="0"/>
                  <a:t>It assumes that</a:t>
                </a:r>
              </a:p>
              <a:p>
                <a:pPr lvl="2"/>
                <a:r>
                  <a:rPr lang="en-IN" dirty="0"/>
                  <a:t> Variances of all the features/dimensions are same</a:t>
                </a:r>
              </a:p>
              <a:p>
                <a:pPr lvl="2"/>
                <a:r>
                  <a:rPr lang="en-IN" dirty="0"/>
                  <a:t>All features are independent </a:t>
                </a:r>
                <a:r>
                  <a:rPr lang="en-IN" dirty="0" err="1"/>
                  <a:t>ie</a:t>
                </a:r>
                <a:r>
                  <a:rPr lang="en-IN" dirty="0"/>
                  <a:t>.  No correlation among features.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A7E052-A2F8-763D-4BF1-D2F128D36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6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C61F-9020-1115-AC5C-381D58AA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BDF01-5F67-CB06-C614-306DD2E73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Explain relationship between </a:t>
            </a:r>
            <a:r>
              <a:rPr lang="en-IN" dirty="0" err="1"/>
              <a:t>Mahalanobis</a:t>
            </a:r>
            <a:r>
              <a:rPr lang="en-IN" dirty="0"/>
              <a:t> distance and Euclidean  distance.</a:t>
            </a:r>
          </a:p>
          <a:p>
            <a:r>
              <a:rPr lang="en-IN" dirty="0"/>
              <a:t>Design an algorithm to filter multivariate outliers using </a:t>
            </a:r>
            <a:r>
              <a:rPr lang="en-IN" dirty="0" err="1"/>
              <a:t>mahalanobis</a:t>
            </a:r>
            <a:r>
              <a:rPr lang="en-IN"/>
              <a:t> distance.</a:t>
            </a:r>
            <a:endParaRPr lang="en-IN" dirty="0"/>
          </a:p>
          <a:p>
            <a:r>
              <a:rPr lang="en-IN" dirty="0"/>
              <a:t>Explain issues with Euclidean distance while detecting multivariate outliers.</a:t>
            </a:r>
          </a:p>
        </p:txBody>
      </p:sp>
    </p:spTree>
    <p:extLst>
      <p:ext uri="{BB962C8B-B14F-4D97-AF65-F5344CB8AC3E}">
        <p14:creationId xmlns:p14="http://schemas.microsoft.com/office/powerpoint/2010/main" val="933004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234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Linux Libertine</vt:lpstr>
      <vt:lpstr>Office Theme</vt:lpstr>
      <vt:lpstr>Mahalanobis Distance</vt:lpstr>
      <vt:lpstr>Measure Distances in Multivariate world</vt:lpstr>
      <vt:lpstr>Covariance Matrix ∑</vt:lpstr>
      <vt:lpstr>Mahalanobis Distance</vt:lpstr>
      <vt:lpstr>Relationship with Euclidean Distance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7</cp:revision>
  <cp:lastPrinted>2025-02-13T05:11:46Z</cp:lastPrinted>
  <dcterms:created xsi:type="dcterms:W3CDTF">2025-02-11T17:15:48Z</dcterms:created>
  <dcterms:modified xsi:type="dcterms:W3CDTF">2025-04-11T08:58:13Z</dcterms:modified>
</cp:coreProperties>
</file>